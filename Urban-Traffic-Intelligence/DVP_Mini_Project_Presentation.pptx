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74EECDB-EB1D-0A51-AC02-5912D97CE2D5}">
          <p14:sldIdLst>
            <p14:sldId id="256"/>
            <p14:sldId id="257"/>
            <p14:sldId id="258"/>
          </p14:sldIdLst>
        </p14:section>
        <p14:section name="Method" id="{ECD38378-4A92-9BE5-FECB-A5AEA9C4C4E5}">
          <p14:sldIdLst>
            <p14:sldId id="259"/>
            <p14:sldId id="260"/>
          </p14:sldIdLst>
        </p14:section>
        <p14:section name="Results" id="{F97BD2B6-B44E-CA19-BB64-70B8D494ACE7}">
          <p14:sldIdLst>
            <p14:sldId id="261"/>
            <p14:sldId id="262"/>
            <p14:sldId id="263"/>
            <p14:sldId id="264"/>
            <p14:sldId id="265"/>
          </p14:sldIdLst>
        </p14:section>
        <p14:section name="Dashboard &amp; Wrap-up" id="{7640ED26-37BD-1D79-1862-D3FE5D7A1D04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65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365D"/>
                </a:solidFill>
                <a:latin typeface="+mn-lt"/>
              </a:rPr>
              <a:t>Accidents by severity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7A6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6B6-44FE-BA21-B43CF42AA23C}"/>
              </c:ext>
            </c:extLst>
          </c:dPt>
          <c:dPt>
            <c:idx val="1"/>
            <c:bubble3D val="0"/>
            <c:spPr>
              <a:solidFill>
                <a:srgbClr val="9C7A2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6B6-44FE-BA21-B43CF42AA23C}"/>
              </c:ext>
            </c:extLst>
          </c:dPt>
          <c:dPt>
            <c:idx val="2"/>
            <c:bubble3D val="0"/>
            <c:spPr>
              <a:solidFill>
                <a:srgbClr val="A33B3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C6B6-44FE-BA21-B43CF42AA23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6B6-44FE-BA21-B43CF42AA23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6B6-44FE-BA21-B43CF42AA23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6B6-44FE-BA21-B43CF42AA23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Minor</c:v>
                </c:pt>
                <c:pt idx="1">
                  <c:v>Major</c:v>
                </c:pt>
                <c:pt idx="2">
                  <c:v>Fatal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11000</c:v>
                </c:pt>
                <c:pt idx="1">
                  <c:v>6013</c:v>
                </c:pt>
                <c:pt idx="2">
                  <c:v>2987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B6-44FE-BA21-B43CF42AA2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365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65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365D"/>
                </a:solidFill>
                <a:latin typeface="+mn-lt"/>
              </a:rPr>
              <a:t>Accidents per hour (y-axis starts at 750)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ln w="38100" cap="flat">
              <a:solidFill>
                <a:srgbClr val="2C5282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2C5282"/>
              </a:solidFill>
              <a:ln w="9525" cap="flat">
                <a:solidFill>
                  <a:srgbClr val="2C5282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840</c:v>
                </c:pt>
                <c:pt idx="1">
                  <c:v>859</c:v>
                </c:pt>
                <c:pt idx="2">
                  <c:v>888</c:v>
                </c:pt>
                <c:pt idx="3">
                  <c:v>824</c:v>
                </c:pt>
                <c:pt idx="4">
                  <c:v>805</c:v>
                </c:pt>
                <c:pt idx="5">
                  <c:v>827</c:v>
                </c:pt>
                <c:pt idx="6">
                  <c:v>856</c:v>
                </c:pt>
                <c:pt idx="7">
                  <c:v>786</c:v>
                </c:pt>
                <c:pt idx="8">
                  <c:v>849</c:v>
                </c:pt>
                <c:pt idx="9">
                  <c:v>786</c:v>
                </c:pt>
                <c:pt idx="10">
                  <c:v>789</c:v>
                </c:pt>
                <c:pt idx="11">
                  <c:v>841</c:v>
                </c:pt>
                <c:pt idx="12">
                  <c:v>866</c:v>
                </c:pt>
                <c:pt idx="13">
                  <c:v>878</c:v>
                </c:pt>
                <c:pt idx="14">
                  <c:v>838</c:v>
                </c:pt>
                <c:pt idx="15">
                  <c:v>811</c:v>
                </c:pt>
                <c:pt idx="16">
                  <c:v>787</c:v>
                </c:pt>
                <c:pt idx="17">
                  <c:v>861</c:v>
                </c:pt>
                <c:pt idx="18">
                  <c:v>823</c:v>
                </c:pt>
                <c:pt idx="19">
                  <c:v>840</c:v>
                </c:pt>
                <c:pt idx="20">
                  <c:v>838</c:v>
                </c:pt>
                <c:pt idx="21">
                  <c:v>830</c:v>
                </c:pt>
                <c:pt idx="22">
                  <c:v>853</c:v>
                </c:pt>
                <c:pt idx="23">
                  <c:v>825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6A-4B73-9CA3-A3EF01B814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B365D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B365D"/>
                    </a:solidFill>
                    <a:latin typeface="+mn-lt"/>
                  </a:rPr>
                  <a:t>Hour of day (0–23)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0"/>
          <c:min val="750"/>
        </c:scaling>
        <c:delete val="0"/>
        <c:axPos val="l"/>
        <c:majorGridlines>
          <c:spPr>
            <a:ln w="9525" cap="flat">
              <a:solidFill>
                <a:srgbClr val="D5DB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B365D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B365D"/>
                    </a:solidFill>
                    <a:latin typeface="+mn-lt"/>
                  </a:rPr>
                  <a:t>Accidents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65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365D"/>
                </a:solidFill>
                <a:latin typeface="+mn-lt"/>
              </a:rPr>
              <a:t>Accidents by reported cause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9C7A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061-49B3-A8BB-2E8DB5BA455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061-49B3-A8BB-2E8DB5BA4557}"/>
              </c:ext>
            </c:extLst>
          </c:dPt>
          <c:dPt>
            <c:idx val="2"/>
            <c:invertIfNegative val="0"/>
            <c:bubble3D val="0"/>
            <c:spPr>
              <a:solidFill>
                <a:srgbClr val="2C52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061-49B3-A8BB-2E8DB5BA4557}"/>
              </c:ext>
            </c:extLst>
          </c:dPt>
          <c:dPt>
            <c:idx val="3"/>
            <c:invertIfNegative val="0"/>
            <c:bubble3D val="0"/>
            <c:spPr>
              <a:solidFill>
                <a:srgbClr val="2C52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061-49B3-A8BB-2E8DB5BA4557}"/>
              </c:ext>
            </c:extLst>
          </c:dPt>
          <c:dPt>
            <c:idx val="4"/>
            <c:invertIfNegative val="0"/>
            <c:bubble3D val="0"/>
            <c:spPr>
              <a:solidFill>
                <a:srgbClr val="2C52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061-49B3-A8BB-2E8DB5BA455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Overspeeding</c:v>
                </c:pt>
                <c:pt idx="1">
                  <c:v>Distraction</c:v>
                </c:pt>
                <c:pt idx="2">
                  <c:v>Weather</c:v>
                </c:pt>
                <c:pt idx="3">
                  <c:v>Drunk driving</c:v>
                </c:pt>
                <c:pt idx="4">
                  <c:v>Poor road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4025</c:v>
                </c:pt>
                <c:pt idx="1">
                  <c:v>4025</c:v>
                </c:pt>
                <c:pt idx="2">
                  <c:v>4005</c:v>
                </c:pt>
                <c:pt idx="3">
                  <c:v>3975</c:v>
                </c:pt>
                <c:pt idx="4">
                  <c:v>3970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061-49B3-A8BB-2E8DB5BA45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0"/>
          <c:min val="0"/>
        </c:scaling>
        <c:delete val="0"/>
        <c:axPos val="t"/>
        <c:majorGridlines>
          <c:spPr>
            <a:ln w="9525" cap="flat">
              <a:solidFill>
                <a:srgbClr val="D5DB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B365D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B365D"/>
                    </a:solidFill>
                    <a:latin typeface="+mn-lt"/>
                  </a:rPr>
                  <a:t>Accidents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65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365D"/>
                </a:solidFill>
                <a:latin typeface="+mn-lt"/>
              </a:rPr>
              <a:t>Accidents by weather and severity (approx. values)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</c:v>
                </c:pt>
              </c:strCache>
            </c:strRef>
          </c:tx>
          <c:spPr>
            <a:solidFill>
              <a:srgbClr val="A33B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Clear</c:v>
                </c:pt>
                <c:pt idx="1">
                  <c:v>Fog</c:v>
                </c:pt>
                <c:pt idx="2">
                  <c:v>Rain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990</c:v>
                </c:pt>
                <c:pt idx="2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D7-43BC-9FB9-7A10B252C1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Major</c:v>
                </c:pt>
              </c:strCache>
            </c:strRef>
          </c:tx>
          <c:spPr>
            <a:solidFill>
              <a:srgbClr val="9C7A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Clear</c:v>
                </c:pt>
                <c:pt idx="1">
                  <c:v>Fog</c:v>
                </c:pt>
                <c:pt idx="2">
                  <c:v>Rain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2020</c:v>
                </c:pt>
                <c:pt idx="1">
                  <c:v>1980</c:v>
                </c:pt>
                <c:pt idx="2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D7-43BC-9FB9-7A10B252C13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Minor</c:v>
                </c:pt>
              </c:strCache>
            </c:strRef>
          </c:tx>
          <c:spPr>
            <a:solidFill>
              <a:srgbClr val="3F7A6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Clear</c:v>
                </c:pt>
                <c:pt idx="1">
                  <c:v>Fog</c:v>
                </c:pt>
                <c:pt idx="2">
                  <c:v>Rain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3660</c:v>
                </c:pt>
                <c:pt idx="1">
                  <c:v>3650</c:v>
                </c:pt>
                <c:pt idx="2">
                  <c:v>3660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9D7-43BC-9FB9-7A10B252C13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0"/>
          <c:min val="0"/>
        </c:scaling>
        <c:delete val="0"/>
        <c:axPos val="l"/>
        <c:majorGridlines>
          <c:spPr>
            <a:ln w="9525" cap="flat">
              <a:solidFill>
                <a:srgbClr val="D5DB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B365D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B365D"/>
                    </a:solidFill>
                    <a:latin typeface="+mn-lt"/>
                  </a:rPr>
                  <a:t>Accidents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365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65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365D"/>
                </a:solidFill>
                <a:latin typeface="+mn-lt"/>
              </a:rPr>
              <a:t>Accident records (raw count)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 records</c:v>
                </c:pt>
              </c:strCache>
            </c:strRef>
          </c:tx>
          <c:spPr>
            <a:solidFill>
              <a:srgbClr val="2C52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Maharashtra</c:v>
                </c:pt>
                <c:pt idx="1">
                  <c:v>Punjab</c:v>
                </c:pt>
                <c:pt idx="2">
                  <c:v>Tamil Nadu</c:v>
                </c:pt>
                <c:pt idx="3">
                  <c:v>West Bengal</c:v>
                </c:pt>
                <c:pt idx="4">
                  <c:v>Karnataka</c:v>
                </c:pt>
                <c:pt idx="5">
                  <c:v>Delhi</c:v>
                </c:pt>
                <c:pt idx="6">
                  <c:v>Telangana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5009</c:v>
                </c:pt>
                <c:pt idx="1">
                  <c:v>2577</c:v>
                </c:pt>
                <c:pt idx="2">
                  <c:v>2575</c:v>
                </c:pt>
                <c:pt idx="3">
                  <c:v>2559</c:v>
                </c:pt>
                <c:pt idx="4">
                  <c:v>2438</c:v>
                </c:pt>
                <c:pt idx="5">
                  <c:v>2433</c:v>
                </c:pt>
                <c:pt idx="6">
                  <c:v>2409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03-49EF-BCCD-7B581233A9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"/>
          <c:min val="0"/>
        </c:scaling>
        <c:delete val="0"/>
        <c:axPos val="t"/>
        <c:majorGridlines>
          <c:spPr>
            <a:ln w="9525" cap="flat">
              <a:solidFill>
                <a:srgbClr val="D5DB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65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365D"/>
                </a:solidFill>
                <a:latin typeface="+mn-lt"/>
              </a:rPr>
              <a:t>Fatal-labelled share of records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 share</c:v>
                </c:pt>
              </c:strCache>
            </c:strRef>
          </c:tx>
          <c:spPr>
            <a:solidFill>
              <a:srgbClr val="A33B3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Maharashtra</c:v>
                </c:pt>
                <c:pt idx="1">
                  <c:v>Punjab</c:v>
                </c:pt>
                <c:pt idx="2">
                  <c:v>Tamil Nadu</c:v>
                </c:pt>
                <c:pt idx="3">
                  <c:v>West Bengal</c:v>
                </c:pt>
                <c:pt idx="4">
                  <c:v>Karnataka</c:v>
                </c:pt>
                <c:pt idx="5">
                  <c:v>Delhi</c:v>
                </c:pt>
                <c:pt idx="6">
                  <c:v>Telangana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15.1</c:v>
                </c:pt>
                <c:pt idx="1">
                  <c:v>14.7</c:v>
                </c:pt>
                <c:pt idx="2">
                  <c:v>14.4</c:v>
                </c:pt>
                <c:pt idx="3">
                  <c:v>14.7</c:v>
                </c:pt>
                <c:pt idx="4">
                  <c:v>15.8</c:v>
                </c:pt>
                <c:pt idx="5">
                  <c:v>15.7</c:v>
                </c:pt>
                <c:pt idx="6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E5-417B-8483-F4C9578F2D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t"/>
        <c:majorGridlines>
          <c:spPr>
            <a:ln w="9525" cap="flat">
              <a:solidFill>
                <a:srgbClr val="D5DB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49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691640"/>
            <a:ext cx="69494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Title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794760"/>
            <a:ext cx="69494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200" dirty="0">
                <a:solidFill>
                  <a:schemeClr val="bg2"/>
                </a:solidFill>
              </a:rPr>
              <a:t>Subtitle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DVP Mini Project  |  AID30050  |  Urban Traffic Intelligence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DVP Mini Project  |  AID30050  |  Urban Traffic Intelligence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7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pandas.pydata.org/docs/" TargetMode="External"/><Relationship Id="rId3" Type="http://schemas.openxmlformats.org/officeDocument/2006/relationships/image" Target="../media/image28.png"/><Relationship Id="rId7" Type="http://schemas.openxmlformats.org/officeDocument/2006/relationships/hyperlink" Target="https://plotly.com/python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streamlit.io/" TargetMode="External"/><Relationship Id="rId5" Type="http://schemas.openxmlformats.org/officeDocument/2006/relationships/hyperlink" Target="https://raw.githubusercontent.com/Aditya2213/INDIAN_ROAD_ACCIDENT_DATASET_DASHBOARD/main/indian_roads_dataset.csv" TargetMode="External"/><Relationship Id="rId4" Type="http://schemas.openxmlformats.org/officeDocument/2006/relationships/hyperlink" Target="https://github.com/Aditya2213/INDIAN_ROAD_ACCIDENT_DATASET_DASHBO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rse tag"/>
          <p:cNvSpPr txBox="1"/>
          <p:nvPr/>
        </p:nvSpPr>
        <p:spPr>
          <a:xfrm>
            <a:off x="640080" y="1188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DATA VISUALIZATION USING PYTHON  ·  AID30050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69164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URBAN TRAFFIC INTELLIGENCE</a:t>
            </a:r>
            <a:endParaRPr lang="en-US" sz="48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7947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2"/>
                </a:solidFill>
              </a:rPr>
              <a:t>Road Accident Patterns, Hotspots &amp; Safety Analytics</a:t>
            </a:r>
            <a:endParaRPr lang="en-US" sz="2200" dirty="0"/>
          </a:p>
        </p:txBody>
      </p:sp>
      <p:sp>
        <p:nvSpPr>
          <p:cNvPr id="5" name="Group details"/>
          <p:cNvSpPr txBox="1"/>
          <p:nvPr/>
        </p:nvSpPr>
        <p:spPr>
          <a:xfrm>
            <a:off x="640080" y="50749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T.Y. B.Tech. AIDS  |  AY 2026–27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Group: Ansh Gupta 1272250887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             Saish </a:t>
            </a:r>
            <a:r>
              <a:rPr lang="en-US" sz="1600" dirty="0" err="1">
                <a:solidFill>
                  <a:schemeClr val="bg2"/>
                </a:solidFill>
              </a:rPr>
              <a:t>Mudliyar</a:t>
            </a:r>
            <a:r>
              <a:rPr lang="en-US" sz="1600" dirty="0">
                <a:solidFill>
                  <a:schemeClr val="bg2"/>
                </a:solidFill>
              </a:rPr>
              <a:t> 1272250900</a:t>
            </a:r>
          </a:p>
        </p:txBody>
      </p:sp>
      <p:sp>
        <p:nvSpPr>
          <p:cNvPr id="6" name="Dataset panel"/>
          <p:cNvSpPr/>
          <p:nvPr/>
        </p:nvSpPr>
        <p:spPr>
          <a:xfrm>
            <a:off x="8138160" y="1371600"/>
            <a:ext cx="3520440" cy="429768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</p:sp>
      <p:sp>
        <p:nvSpPr>
          <p:cNvPr id="7" name="Panel heading"/>
          <p:cNvSpPr txBox="1"/>
          <p:nvPr/>
        </p:nvSpPr>
        <p:spPr>
          <a:xfrm>
            <a:off x="845820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DATASET AT A GLANCE</a:t>
            </a:r>
            <a:endParaRPr lang="en-US" sz="1200" dirty="0"/>
          </a:p>
        </p:txBody>
      </p:sp>
      <p:sp>
        <p:nvSpPr>
          <p:cNvPr id="8" name="Panel stat 1"/>
          <p:cNvSpPr txBox="1"/>
          <p:nvPr/>
        </p:nvSpPr>
        <p:spPr>
          <a:xfrm>
            <a:off x="8458200" y="2103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20,000</a:t>
            </a:r>
            <a:endParaRPr lang="en-US" sz="3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accident records</a:t>
            </a:r>
            <a:endParaRPr lang="en-US" sz="3600" dirty="0"/>
          </a:p>
        </p:txBody>
      </p:sp>
      <p:sp>
        <p:nvSpPr>
          <p:cNvPr id="9" name="Panel stat 2"/>
          <p:cNvSpPr txBox="1"/>
          <p:nvPr/>
        </p:nvSpPr>
        <p:spPr>
          <a:xfrm>
            <a:off x="8458200" y="3291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7</a:t>
            </a:r>
            <a:endParaRPr lang="en-US" sz="3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Indian states</a:t>
            </a:r>
            <a:endParaRPr lang="en-US" sz="3600" dirty="0"/>
          </a:p>
        </p:txBody>
      </p:sp>
      <p:sp>
        <p:nvSpPr>
          <p:cNvPr id="10" name="Panel stat 3"/>
          <p:cNvSpPr txBox="1"/>
          <p:nvPr/>
        </p:nvSpPr>
        <p:spPr>
          <a:xfrm>
            <a:off x="8458200" y="4480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2,987</a:t>
            </a:r>
            <a:endParaRPr lang="en-US" sz="3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fatal-labelled records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3" name="Lead statement"/>
          <p:cNvSpPr txBox="1"/>
          <p:nvPr/>
        </p:nvSpPr>
        <p:spPr>
          <a:xfrm>
            <a:off x="548640" y="16002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Transforming 20,000 raw accident records into interpretable road-safety insight.</a:t>
            </a:r>
            <a:endParaRPr lang="en-US" sz="2400" dirty="0"/>
          </a:p>
        </p:txBody>
      </p:sp>
      <p:sp>
        <p:nvSpPr>
          <p:cNvPr id="4" name="Lead detail"/>
          <p:cNvSpPr txBox="1"/>
          <p:nvPr/>
        </p:nvSpPr>
        <p:spPr>
          <a:xfrm>
            <a:off x="548640" y="3337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The study preprocesses the data, develops visualizations and provides an interactive Streamlit dashboard for exploring filtered records.</a:t>
            </a:r>
            <a:endParaRPr lang="en-US" sz="1600" dirty="0"/>
          </a:p>
        </p:txBody>
      </p:sp>
      <p:sp>
        <p:nvSpPr>
          <p:cNvPr id="5" name="Scope card"/>
          <p:cNvSpPr/>
          <p:nvPr/>
        </p:nvSpPr>
        <p:spPr>
          <a:xfrm>
            <a:off x="548640" y="4754880"/>
            <a:ext cx="36576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6" name="Scope text"/>
          <p:cNvSpPr txBox="1"/>
          <p:nvPr/>
        </p:nvSpPr>
        <p:spPr>
          <a:xfrm>
            <a:off x="731520" y="48463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SCOPE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Descriptive accident analysis — not a live traffic or causal prediction system.</a:t>
            </a:r>
            <a:endParaRPr lang="en-US" sz="1200" dirty="0"/>
          </a:p>
        </p:txBody>
      </p:sp>
      <p:sp>
        <p:nvSpPr>
          <p:cNvPr id="7" name="Card Location"/>
          <p:cNvSpPr/>
          <p:nvPr/>
        </p:nvSpPr>
        <p:spPr>
          <a:xfrm>
            <a:off x="4572000" y="1600200"/>
            <a:ext cx="3429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8" name="Icon Location circle"/>
          <p:cNvSpPr/>
          <p:nvPr/>
        </p:nvSpPr>
        <p:spPr>
          <a:xfrm>
            <a:off x="484632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 Location" descr="p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2034540"/>
            <a:ext cx="320040" cy="320040"/>
          </a:xfrm>
          <a:prstGeom prst="rect">
            <a:avLst/>
          </a:prstGeom>
        </p:spPr>
      </p:pic>
      <p:sp>
        <p:nvSpPr>
          <p:cNvPr id="10" name="Card title Location"/>
          <p:cNvSpPr txBox="1"/>
          <p:nvPr/>
        </p:nvSpPr>
        <p:spPr>
          <a:xfrm>
            <a:off x="484632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Location</a:t>
            </a:r>
            <a:endParaRPr lang="en-US" sz="1800" dirty="0"/>
          </a:p>
        </p:txBody>
      </p:sp>
      <p:sp>
        <p:nvSpPr>
          <p:cNvPr id="11" name="Card text Location"/>
          <p:cNvSpPr txBox="1"/>
          <p:nvPr/>
        </p:nvSpPr>
        <p:spPr>
          <a:xfrm>
            <a:off x="4846320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Records across seven Indian states, mapped by city and coordinates.</a:t>
            </a:r>
            <a:endParaRPr lang="en-US" sz="1400" dirty="0"/>
          </a:p>
        </p:txBody>
      </p:sp>
      <p:sp>
        <p:nvSpPr>
          <p:cNvPr id="12" name="Card Time"/>
          <p:cNvSpPr/>
          <p:nvPr/>
        </p:nvSpPr>
        <p:spPr>
          <a:xfrm>
            <a:off x="8229600" y="1600200"/>
            <a:ext cx="3429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3" name="Icon Time circle"/>
          <p:cNvSpPr/>
          <p:nvPr/>
        </p:nvSpPr>
        <p:spPr>
          <a:xfrm>
            <a:off x="850392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 Time" descr="c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940" y="2034540"/>
            <a:ext cx="320040" cy="320040"/>
          </a:xfrm>
          <a:prstGeom prst="rect">
            <a:avLst/>
          </a:prstGeom>
        </p:spPr>
      </p:pic>
      <p:sp>
        <p:nvSpPr>
          <p:cNvPr id="15" name="Card title Time"/>
          <p:cNvSpPr txBox="1"/>
          <p:nvPr/>
        </p:nvSpPr>
        <p:spPr>
          <a:xfrm>
            <a:off x="850392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Time</a:t>
            </a:r>
            <a:endParaRPr lang="en-US" sz="1800" dirty="0"/>
          </a:p>
        </p:txBody>
      </p:sp>
      <p:sp>
        <p:nvSpPr>
          <p:cNvPr id="16" name="Card text Time"/>
          <p:cNvSpPr txBox="1"/>
          <p:nvPr/>
        </p:nvSpPr>
        <p:spPr>
          <a:xfrm>
            <a:off x="8503920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Hour-of-day patterns from the date and time fields.</a:t>
            </a:r>
            <a:endParaRPr lang="en-US" sz="1400" dirty="0"/>
          </a:p>
        </p:txBody>
      </p:sp>
      <p:sp>
        <p:nvSpPr>
          <p:cNvPr id="17" name="Card Road &amp; weather"/>
          <p:cNvSpPr/>
          <p:nvPr/>
        </p:nvSpPr>
        <p:spPr>
          <a:xfrm>
            <a:off x="4572000" y="3886200"/>
            <a:ext cx="3429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8" name="Icon Road &amp; weather circle"/>
          <p:cNvSpPr/>
          <p:nvPr/>
        </p:nvSpPr>
        <p:spPr>
          <a:xfrm>
            <a:off x="484632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 Road &amp; weather" descr="ra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340" y="4320540"/>
            <a:ext cx="320040" cy="320040"/>
          </a:xfrm>
          <a:prstGeom prst="rect">
            <a:avLst/>
          </a:prstGeom>
        </p:spPr>
      </p:pic>
      <p:sp>
        <p:nvSpPr>
          <p:cNvPr id="20" name="Card title Road &amp;amp; weather"/>
          <p:cNvSpPr txBox="1"/>
          <p:nvPr/>
        </p:nvSpPr>
        <p:spPr>
          <a:xfrm>
            <a:off x="484632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Road &amp; weather</a:t>
            </a:r>
            <a:endParaRPr lang="en-US" sz="1800" dirty="0"/>
          </a:p>
        </p:txBody>
      </p:sp>
      <p:sp>
        <p:nvSpPr>
          <p:cNvPr id="21" name="Card text Road &amp;amp; weather"/>
          <p:cNvSpPr txBox="1"/>
          <p:nvPr/>
        </p:nvSpPr>
        <p:spPr>
          <a:xfrm>
            <a:off x="4846320" y="5257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Road type, weather, visibility and traffic density.</a:t>
            </a:r>
            <a:endParaRPr lang="en-US" sz="1400" dirty="0"/>
          </a:p>
        </p:txBody>
      </p:sp>
      <p:sp>
        <p:nvSpPr>
          <p:cNvPr id="22" name="Card Severity"/>
          <p:cNvSpPr/>
          <p:nvPr/>
        </p:nvSpPr>
        <p:spPr>
          <a:xfrm>
            <a:off x="8229600" y="3886200"/>
            <a:ext cx="3429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3" name="Icon Severity circle"/>
          <p:cNvSpPr/>
          <p:nvPr/>
        </p:nvSpPr>
        <p:spPr>
          <a:xfrm>
            <a:off x="850392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 Severity" descr="war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3940" y="4320540"/>
            <a:ext cx="320040" cy="320040"/>
          </a:xfrm>
          <a:prstGeom prst="rect">
            <a:avLst/>
          </a:prstGeom>
        </p:spPr>
      </p:pic>
      <p:sp>
        <p:nvSpPr>
          <p:cNvPr id="25" name="Card title Severity"/>
          <p:cNvSpPr txBox="1"/>
          <p:nvPr/>
        </p:nvSpPr>
        <p:spPr>
          <a:xfrm>
            <a:off x="850392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Severity</a:t>
            </a:r>
            <a:endParaRPr lang="en-US" sz="1800" dirty="0"/>
          </a:p>
        </p:txBody>
      </p:sp>
      <p:sp>
        <p:nvSpPr>
          <p:cNvPr id="26" name="Card text Severity"/>
          <p:cNvSpPr txBox="1"/>
          <p:nvPr/>
        </p:nvSpPr>
        <p:spPr>
          <a:xfrm>
            <a:off x="8503920" y="5257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Minor, major and fatal records, casualties and risk score.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 Statement &amp; Objectives</a:t>
            </a:r>
            <a:endParaRPr lang="en-US" sz="36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554480"/>
            <a:ext cx="4297680" cy="452628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/>
        </p:spPr>
      </p:sp>
      <p:sp>
        <p:nvSpPr>
          <p:cNvPr id="4" name="Problem icon circle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roblem icon" descr="war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57400"/>
            <a:ext cx="365760" cy="365760"/>
          </a:xfrm>
          <a:prstGeom prst="rect">
            <a:avLst/>
          </a:prstGeom>
        </p:spPr>
      </p:pic>
      <p:sp>
        <p:nvSpPr>
          <p:cNvPr id="6" name="Problem label"/>
          <p:cNvSpPr txBox="1"/>
          <p:nvPr/>
        </p:nvSpPr>
        <p:spPr>
          <a:xfrm>
            <a:off x="86868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7" name="Problem statement"/>
          <p:cNvSpPr txBox="1"/>
          <p:nvPr/>
        </p:nvSpPr>
        <p:spPr>
          <a:xfrm>
            <a:off x="868680" y="3154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Raw accident records are difficult to interpret without cleaning and aggregation.</a:t>
            </a:r>
            <a:endParaRPr lang="en-US" sz="2400" dirty="0"/>
          </a:p>
        </p:txBody>
      </p:sp>
      <p:sp>
        <p:nvSpPr>
          <p:cNvPr id="8" name="Objective card 1"/>
          <p:cNvSpPr/>
          <p:nvPr/>
        </p:nvSpPr>
        <p:spPr>
          <a:xfrm>
            <a:off x="5120640" y="1554480"/>
            <a:ext cx="65196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Objective icon 1 circle"/>
          <p:cNvSpPr/>
          <p:nvPr/>
        </p:nvSpPr>
        <p:spPr>
          <a:xfrm>
            <a:off x="539496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Objective icon 1" descr="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057400"/>
            <a:ext cx="365760" cy="365760"/>
          </a:xfrm>
          <a:prstGeom prst="rect">
            <a:avLst/>
          </a:prstGeom>
        </p:spPr>
      </p:pic>
      <p:sp>
        <p:nvSpPr>
          <p:cNvPr id="11" name="Objective title 1"/>
          <p:cNvSpPr txBox="1"/>
          <p:nvPr/>
        </p:nvSpPr>
        <p:spPr>
          <a:xfrm>
            <a:off x="6400800" y="1755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Inspect data quality</a:t>
            </a:r>
            <a:endParaRPr lang="en-US" sz="2000" dirty="0"/>
          </a:p>
        </p:txBody>
      </p:sp>
      <p:sp>
        <p:nvSpPr>
          <p:cNvPr id="12" name="Objective text 1"/>
          <p:cNvSpPr txBox="1"/>
          <p:nvPr/>
        </p:nvSpPr>
        <p:spPr>
          <a:xfrm>
            <a:off x="6400800" y="21488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Check missing values, duplicates, data types and valid ranges.</a:t>
            </a:r>
            <a:endParaRPr lang="en-US" sz="1500" dirty="0"/>
          </a:p>
        </p:txBody>
      </p:sp>
      <p:sp>
        <p:nvSpPr>
          <p:cNvPr id="13" name="Objective card 2"/>
          <p:cNvSpPr/>
          <p:nvPr/>
        </p:nvSpPr>
        <p:spPr>
          <a:xfrm>
            <a:off x="5120640" y="3108960"/>
            <a:ext cx="65196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Objective icon 2 circle"/>
          <p:cNvSpPr/>
          <p:nvPr/>
        </p:nvSpPr>
        <p:spPr>
          <a:xfrm>
            <a:off x="5394960" y="3429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Objective icon 2" descr="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611880"/>
            <a:ext cx="365760" cy="365760"/>
          </a:xfrm>
          <a:prstGeom prst="rect">
            <a:avLst/>
          </a:prstGeom>
        </p:spPr>
      </p:pic>
      <p:sp>
        <p:nvSpPr>
          <p:cNvPr id="16" name="Objective title 2"/>
          <p:cNvSpPr txBox="1"/>
          <p:nvPr/>
        </p:nvSpPr>
        <p:spPr>
          <a:xfrm>
            <a:off x="6400800" y="3310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Identify patterns</a:t>
            </a:r>
            <a:endParaRPr lang="en-US" sz="2000" dirty="0"/>
          </a:p>
        </p:txBody>
      </p:sp>
      <p:sp>
        <p:nvSpPr>
          <p:cNvPr id="17" name="Objective text 2"/>
          <p:cNvSpPr txBox="1"/>
          <p:nvPr/>
        </p:nvSpPr>
        <p:spPr>
          <a:xfrm>
            <a:off x="6400800" y="37033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Explore severity, time, reported causes, weather and locations.</a:t>
            </a:r>
            <a:endParaRPr lang="en-US" sz="1500" dirty="0"/>
          </a:p>
        </p:txBody>
      </p:sp>
      <p:sp>
        <p:nvSpPr>
          <p:cNvPr id="18" name="Objective card 3"/>
          <p:cNvSpPr/>
          <p:nvPr/>
        </p:nvSpPr>
        <p:spPr>
          <a:xfrm>
            <a:off x="5120640" y="4663440"/>
            <a:ext cx="65196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9" name="Objective icon 3 circle"/>
          <p:cNvSpPr/>
          <p:nvPr/>
        </p:nvSpPr>
        <p:spPr>
          <a:xfrm>
            <a:off x="5394960" y="4983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Objective icon 3" descr="gau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5166360"/>
            <a:ext cx="365760" cy="365760"/>
          </a:xfrm>
          <a:prstGeom prst="rect">
            <a:avLst/>
          </a:prstGeom>
        </p:spPr>
      </p:pic>
      <p:sp>
        <p:nvSpPr>
          <p:cNvPr id="21" name="Objective title 3"/>
          <p:cNvSpPr txBox="1"/>
          <p:nvPr/>
        </p:nvSpPr>
        <p:spPr>
          <a:xfrm>
            <a:off x="6400800" y="48646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Build a dashboard</a:t>
            </a:r>
            <a:endParaRPr lang="en-US" sz="2000" dirty="0"/>
          </a:p>
        </p:txBody>
      </p:sp>
      <p:sp>
        <p:nvSpPr>
          <p:cNvPr id="22" name="Objective text 3"/>
          <p:cNvSpPr txBox="1"/>
          <p:nvPr/>
        </p:nvSpPr>
        <p:spPr>
          <a:xfrm>
            <a:off x="6400800" y="52578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Filters, KPI cards, charts, map and data export in Streamlit.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Dataset Description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55448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4" name="Stat value 1"/>
          <p:cNvSpPr txBox="1"/>
          <p:nvPr/>
        </p:nvSpPr>
        <p:spPr>
          <a:xfrm>
            <a:off x="777240" y="1645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20,000</a:t>
            </a:r>
            <a:endParaRPr lang="en-US" sz="4400" dirty="0"/>
          </a:p>
        </p:txBody>
      </p:sp>
      <p:sp>
        <p:nvSpPr>
          <p:cNvPr id="5" name="Stat label 1"/>
          <p:cNvSpPr txBox="1"/>
          <p:nvPr/>
        </p:nvSpPr>
        <p:spPr>
          <a:xfrm>
            <a:off x="777240" y="2359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accident records</a:t>
            </a:r>
            <a:endParaRPr lang="en-US" sz="1600" dirty="0"/>
          </a:p>
        </p:txBody>
      </p:sp>
      <p:sp>
        <p:nvSpPr>
          <p:cNvPr id="6" name="Stat card 2"/>
          <p:cNvSpPr/>
          <p:nvPr/>
        </p:nvSpPr>
        <p:spPr>
          <a:xfrm>
            <a:off x="548640" y="297180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7" name="Stat value 2"/>
          <p:cNvSpPr txBox="1"/>
          <p:nvPr/>
        </p:nvSpPr>
        <p:spPr>
          <a:xfrm>
            <a:off x="777240" y="3063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24</a:t>
            </a:r>
            <a:endParaRPr lang="en-US" sz="4400" dirty="0"/>
          </a:p>
        </p:txBody>
      </p:sp>
      <p:sp>
        <p:nvSpPr>
          <p:cNvPr id="8" name="Stat label 2"/>
          <p:cNvSpPr txBox="1"/>
          <p:nvPr/>
        </p:nvSpPr>
        <p:spPr>
          <a:xfrm>
            <a:off x="777240" y="3776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columns</a:t>
            </a:r>
            <a:endParaRPr lang="en-US" sz="1600" dirty="0"/>
          </a:p>
        </p:txBody>
      </p:sp>
      <p:sp>
        <p:nvSpPr>
          <p:cNvPr id="9" name="Stat card 3"/>
          <p:cNvSpPr/>
          <p:nvPr/>
        </p:nvSpPr>
        <p:spPr>
          <a:xfrm>
            <a:off x="548640" y="438912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0" name="Stat value 3"/>
          <p:cNvSpPr txBox="1"/>
          <p:nvPr/>
        </p:nvSpPr>
        <p:spPr>
          <a:xfrm>
            <a:off x="777240" y="4480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7</a:t>
            </a:r>
            <a:endParaRPr lang="en-US" sz="4400" dirty="0"/>
          </a:p>
        </p:txBody>
      </p:sp>
      <p:sp>
        <p:nvSpPr>
          <p:cNvPr id="11" name="Stat label 3"/>
          <p:cNvSpPr txBox="1"/>
          <p:nvPr/>
        </p:nvSpPr>
        <p:spPr>
          <a:xfrm>
            <a:off x="777240" y="5193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Indian states</a:t>
            </a:r>
            <a:endParaRPr lang="en-US" sz="1600" dirty="0"/>
          </a:p>
        </p:txBody>
      </p:sp>
      <p:sp>
        <p:nvSpPr>
          <p:cNvPr id="12" name="Fields heading"/>
          <p:cNvSpPr txBox="1"/>
          <p:nvPr/>
        </p:nvSpPr>
        <p:spPr>
          <a:xfrm>
            <a:off x="4480560" y="1554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Fields in the dataset</a:t>
            </a:r>
            <a:endParaRPr lang="en-US" sz="2000" dirty="0"/>
          </a:p>
        </p:txBody>
      </p:sp>
      <p:sp>
        <p:nvSpPr>
          <p:cNvPr id="13" name="Field chip City / State"/>
          <p:cNvSpPr/>
          <p:nvPr/>
        </p:nvSpPr>
        <p:spPr>
          <a:xfrm>
            <a:off x="4480560" y="205740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4" name="Field icon City / State circle"/>
          <p:cNvSpPr/>
          <p:nvPr/>
        </p:nvSpPr>
        <p:spPr>
          <a:xfrm>
            <a:off x="4617720" y="2194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ield icon City / State" descr="p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2308860"/>
            <a:ext cx="228600" cy="228600"/>
          </a:xfrm>
          <a:prstGeom prst="rect">
            <a:avLst/>
          </a:prstGeom>
        </p:spPr>
      </p:pic>
      <p:sp>
        <p:nvSpPr>
          <p:cNvPr id="16" name="Field label City / State"/>
          <p:cNvSpPr txBox="1"/>
          <p:nvPr/>
        </p:nvSpPr>
        <p:spPr>
          <a:xfrm>
            <a:off x="5212080" y="2057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City / State</a:t>
            </a:r>
            <a:endParaRPr lang="en-US" sz="1500" dirty="0"/>
          </a:p>
        </p:txBody>
      </p:sp>
      <p:sp>
        <p:nvSpPr>
          <p:cNvPr id="17" name="Field chip Coordinates"/>
          <p:cNvSpPr/>
          <p:nvPr/>
        </p:nvSpPr>
        <p:spPr>
          <a:xfrm>
            <a:off x="6903720" y="205740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8" name="Field icon Coordinates circle"/>
          <p:cNvSpPr/>
          <p:nvPr/>
        </p:nvSpPr>
        <p:spPr>
          <a:xfrm>
            <a:off x="7040880" y="2194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Field icon Coordinates" descr="m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180" y="2308860"/>
            <a:ext cx="228600" cy="228600"/>
          </a:xfrm>
          <a:prstGeom prst="rect">
            <a:avLst/>
          </a:prstGeom>
        </p:spPr>
      </p:pic>
      <p:sp>
        <p:nvSpPr>
          <p:cNvPr id="20" name="Field label Coordinates"/>
          <p:cNvSpPr txBox="1"/>
          <p:nvPr/>
        </p:nvSpPr>
        <p:spPr>
          <a:xfrm>
            <a:off x="7635240" y="2057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Coordinates</a:t>
            </a:r>
            <a:endParaRPr lang="en-US" sz="1500" dirty="0"/>
          </a:p>
        </p:txBody>
      </p:sp>
      <p:sp>
        <p:nvSpPr>
          <p:cNvPr id="21" name="Field chip Date &amp; time"/>
          <p:cNvSpPr/>
          <p:nvPr/>
        </p:nvSpPr>
        <p:spPr>
          <a:xfrm>
            <a:off x="9326880" y="205740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2" name="Field icon Date &amp; time circle"/>
          <p:cNvSpPr/>
          <p:nvPr/>
        </p:nvSpPr>
        <p:spPr>
          <a:xfrm>
            <a:off x="9464040" y="2194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Field icon Date &amp; time" descr="c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8340" y="2308860"/>
            <a:ext cx="228600" cy="228600"/>
          </a:xfrm>
          <a:prstGeom prst="rect">
            <a:avLst/>
          </a:prstGeom>
        </p:spPr>
      </p:pic>
      <p:sp>
        <p:nvSpPr>
          <p:cNvPr id="24" name="Field label Date &amp;amp; time"/>
          <p:cNvSpPr txBox="1"/>
          <p:nvPr/>
        </p:nvSpPr>
        <p:spPr>
          <a:xfrm>
            <a:off x="10058400" y="2057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Date &amp; time</a:t>
            </a:r>
            <a:endParaRPr lang="en-US" sz="1500" dirty="0"/>
          </a:p>
        </p:txBody>
      </p:sp>
      <p:sp>
        <p:nvSpPr>
          <p:cNvPr id="25" name="Field chip Road type"/>
          <p:cNvSpPr/>
          <p:nvPr/>
        </p:nvSpPr>
        <p:spPr>
          <a:xfrm>
            <a:off x="4480560" y="292608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6" name="Field icon Road type circle"/>
          <p:cNvSpPr/>
          <p:nvPr/>
        </p:nvSpPr>
        <p:spPr>
          <a:xfrm>
            <a:off x="461772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Field icon Road type" descr="rou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020" y="3177540"/>
            <a:ext cx="228600" cy="228600"/>
          </a:xfrm>
          <a:prstGeom prst="rect">
            <a:avLst/>
          </a:prstGeom>
        </p:spPr>
      </p:pic>
      <p:sp>
        <p:nvSpPr>
          <p:cNvPr id="28" name="Field label Road type"/>
          <p:cNvSpPr txBox="1"/>
          <p:nvPr/>
        </p:nvSpPr>
        <p:spPr>
          <a:xfrm>
            <a:off x="521208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Road type</a:t>
            </a:r>
            <a:endParaRPr lang="en-US" sz="1500" dirty="0"/>
          </a:p>
        </p:txBody>
      </p:sp>
      <p:sp>
        <p:nvSpPr>
          <p:cNvPr id="29" name="Field chip Weather"/>
          <p:cNvSpPr/>
          <p:nvPr/>
        </p:nvSpPr>
        <p:spPr>
          <a:xfrm>
            <a:off x="6903720" y="292608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30" name="Field icon Weather circle"/>
          <p:cNvSpPr/>
          <p:nvPr/>
        </p:nvSpPr>
        <p:spPr>
          <a:xfrm>
            <a:off x="704088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Field icon Weather" descr="rai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180" y="3177540"/>
            <a:ext cx="228600" cy="228600"/>
          </a:xfrm>
          <a:prstGeom prst="rect">
            <a:avLst/>
          </a:prstGeom>
        </p:spPr>
      </p:pic>
      <p:sp>
        <p:nvSpPr>
          <p:cNvPr id="32" name="Field label Weather"/>
          <p:cNvSpPr txBox="1"/>
          <p:nvPr/>
        </p:nvSpPr>
        <p:spPr>
          <a:xfrm>
            <a:off x="763524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Weather</a:t>
            </a:r>
            <a:endParaRPr lang="en-US" sz="1500" dirty="0"/>
          </a:p>
        </p:txBody>
      </p:sp>
      <p:sp>
        <p:nvSpPr>
          <p:cNvPr id="33" name="Field chip Visibility"/>
          <p:cNvSpPr/>
          <p:nvPr/>
        </p:nvSpPr>
        <p:spPr>
          <a:xfrm>
            <a:off x="9326880" y="292608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34" name="Field icon Visibility circle"/>
          <p:cNvSpPr/>
          <p:nvPr/>
        </p:nvSpPr>
        <p:spPr>
          <a:xfrm>
            <a:off x="946404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Field icon Visibility" descr="ey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8340" y="3177540"/>
            <a:ext cx="228600" cy="228600"/>
          </a:xfrm>
          <a:prstGeom prst="rect">
            <a:avLst/>
          </a:prstGeom>
        </p:spPr>
      </p:pic>
      <p:sp>
        <p:nvSpPr>
          <p:cNvPr id="36" name="Field label Visibility"/>
          <p:cNvSpPr txBox="1"/>
          <p:nvPr/>
        </p:nvSpPr>
        <p:spPr>
          <a:xfrm>
            <a:off x="1005840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Visibility</a:t>
            </a:r>
            <a:endParaRPr lang="en-US" sz="1500" dirty="0"/>
          </a:p>
        </p:txBody>
      </p:sp>
      <p:sp>
        <p:nvSpPr>
          <p:cNvPr id="37" name="Field chip Traffic density"/>
          <p:cNvSpPr/>
          <p:nvPr/>
        </p:nvSpPr>
        <p:spPr>
          <a:xfrm>
            <a:off x="4480560" y="379476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38" name="Field icon Traffic density circle"/>
          <p:cNvSpPr/>
          <p:nvPr/>
        </p:nvSpPr>
        <p:spPr>
          <a:xfrm>
            <a:off x="461772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Field icon Traffic density" descr="c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2020" y="4046220"/>
            <a:ext cx="228600" cy="228600"/>
          </a:xfrm>
          <a:prstGeom prst="rect">
            <a:avLst/>
          </a:prstGeom>
        </p:spPr>
      </p:pic>
      <p:sp>
        <p:nvSpPr>
          <p:cNvPr id="40" name="Field label Traffic density"/>
          <p:cNvSpPr txBox="1"/>
          <p:nvPr/>
        </p:nvSpPr>
        <p:spPr>
          <a:xfrm>
            <a:off x="5212080" y="3794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Traffic density</a:t>
            </a:r>
            <a:endParaRPr lang="en-US" sz="1500" dirty="0"/>
          </a:p>
        </p:txBody>
      </p:sp>
      <p:sp>
        <p:nvSpPr>
          <p:cNvPr id="41" name="Field chip Reported cause"/>
          <p:cNvSpPr/>
          <p:nvPr/>
        </p:nvSpPr>
        <p:spPr>
          <a:xfrm>
            <a:off x="6903720" y="379476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42" name="Field icon Reported cause circle"/>
          <p:cNvSpPr/>
          <p:nvPr/>
        </p:nvSpPr>
        <p:spPr>
          <a:xfrm>
            <a:off x="704088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3" name="Field icon Reported cause" descr="war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5180" y="4046220"/>
            <a:ext cx="228600" cy="228600"/>
          </a:xfrm>
          <a:prstGeom prst="rect">
            <a:avLst/>
          </a:prstGeom>
        </p:spPr>
      </p:pic>
      <p:sp>
        <p:nvSpPr>
          <p:cNvPr id="44" name="Field label Reported cause"/>
          <p:cNvSpPr txBox="1"/>
          <p:nvPr/>
        </p:nvSpPr>
        <p:spPr>
          <a:xfrm>
            <a:off x="7635240" y="3794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Reported cause</a:t>
            </a:r>
            <a:endParaRPr lang="en-US" sz="1500" dirty="0"/>
          </a:p>
        </p:txBody>
      </p:sp>
      <p:sp>
        <p:nvSpPr>
          <p:cNvPr id="45" name="Field chip Severity"/>
          <p:cNvSpPr/>
          <p:nvPr/>
        </p:nvSpPr>
        <p:spPr>
          <a:xfrm>
            <a:off x="9326880" y="379476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46" name="Field icon Severity circle"/>
          <p:cNvSpPr/>
          <p:nvPr/>
        </p:nvSpPr>
        <p:spPr>
          <a:xfrm>
            <a:off x="946404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7" name="Field icon Severity" descr="gau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78340" y="4046220"/>
            <a:ext cx="228600" cy="228600"/>
          </a:xfrm>
          <a:prstGeom prst="rect">
            <a:avLst/>
          </a:prstGeom>
        </p:spPr>
      </p:pic>
      <p:sp>
        <p:nvSpPr>
          <p:cNvPr id="48" name="Field label Severity"/>
          <p:cNvSpPr txBox="1"/>
          <p:nvPr/>
        </p:nvSpPr>
        <p:spPr>
          <a:xfrm>
            <a:off x="10058400" y="3794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Severity</a:t>
            </a:r>
            <a:endParaRPr lang="en-US" sz="1500" dirty="0"/>
          </a:p>
        </p:txBody>
      </p:sp>
      <p:sp>
        <p:nvSpPr>
          <p:cNvPr id="49" name="Field chip Casualties"/>
          <p:cNvSpPr/>
          <p:nvPr/>
        </p:nvSpPr>
        <p:spPr>
          <a:xfrm>
            <a:off x="4480560" y="466344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50" name="Field icon Casualties circle"/>
          <p:cNvSpPr/>
          <p:nvPr/>
        </p:nvSpPr>
        <p:spPr>
          <a:xfrm>
            <a:off x="4617720" y="4800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1" name="Field icon Casualties" descr="users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2020" y="4914900"/>
            <a:ext cx="228600" cy="228600"/>
          </a:xfrm>
          <a:prstGeom prst="rect">
            <a:avLst/>
          </a:prstGeom>
        </p:spPr>
      </p:pic>
      <p:sp>
        <p:nvSpPr>
          <p:cNvPr id="52" name="Field label Casualties"/>
          <p:cNvSpPr txBox="1"/>
          <p:nvPr/>
        </p:nvSpPr>
        <p:spPr>
          <a:xfrm>
            <a:off x="5212080" y="4663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Casualties</a:t>
            </a:r>
            <a:endParaRPr lang="en-US" sz="1500" dirty="0"/>
          </a:p>
        </p:txBody>
      </p:sp>
      <p:sp>
        <p:nvSpPr>
          <p:cNvPr id="53" name="Field chip Risk score"/>
          <p:cNvSpPr/>
          <p:nvPr/>
        </p:nvSpPr>
        <p:spPr>
          <a:xfrm>
            <a:off x="6903720" y="466344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54" name="Field icon Risk score circle"/>
          <p:cNvSpPr/>
          <p:nvPr/>
        </p:nvSpPr>
        <p:spPr>
          <a:xfrm>
            <a:off x="7040880" y="4800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5" name="Field icon Risk score" descr="shiel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5180" y="4914900"/>
            <a:ext cx="228600" cy="228600"/>
          </a:xfrm>
          <a:prstGeom prst="rect">
            <a:avLst/>
          </a:prstGeom>
        </p:spPr>
      </p:pic>
      <p:sp>
        <p:nvSpPr>
          <p:cNvPr id="56" name="Field label Risk score"/>
          <p:cNvSpPr txBox="1"/>
          <p:nvPr/>
        </p:nvSpPr>
        <p:spPr>
          <a:xfrm>
            <a:off x="7635240" y="4663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Risk score</a:t>
            </a:r>
            <a:endParaRPr lang="en-US" sz="1500" dirty="0"/>
          </a:p>
        </p:txBody>
      </p:sp>
      <p:sp>
        <p:nvSpPr>
          <p:cNvPr id="57" name="Source note"/>
          <p:cNvSpPr txBox="1"/>
          <p:nvPr/>
        </p:nvSpPr>
        <p:spPr>
          <a:xfrm>
            <a:off x="4480560" y="5577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Source: </a:t>
            </a:r>
            <a:r>
              <a:rPr lang="en-US" sz="1400" dirty="0">
                <a:solidFill>
                  <a:schemeClr val="tx2"/>
                </a:solidFill>
              </a:rPr>
              <a:t>community-hosted GitHub repository (link in References). Verify provenance and data definitions before final submission.</a:t>
            </a:r>
            <a:endParaRPr lang="en-US" sz="140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Data Preprocessing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4592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tep number 1"/>
          <p:cNvSpPr txBox="1"/>
          <p:nvPr/>
        </p:nvSpPr>
        <p:spPr>
          <a:xfrm>
            <a:off x="73152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Step icon 1 circle"/>
          <p:cNvSpPr/>
          <p:nvPr/>
        </p:nvSpPr>
        <p:spPr>
          <a:xfrm>
            <a:off x="178308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tep icon 1" descr="se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670" y="1977390"/>
            <a:ext cx="297180" cy="297180"/>
          </a:xfrm>
          <a:prstGeom prst="rect">
            <a:avLst/>
          </a:prstGeom>
        </p:spPr>
      </p:pic>
      <p:sp>
        <p:nvSpPr>
          <p:cNvPr id="7" name="Step title 1"/>
          <p:cNvSpPr txBox="1"/>
          <p:nvPr/>
        </p:nvSpPr>
        <p:spPr>
          <a:xfrm>
            <a:off x="731520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Inspect</a:t>
            </a:r>
            <a:endParaRPr lang="en-US" sz="1800" dirty="0"/>
          </a:p>
        </p:txBody>
      </p:sp>
      <p:sp>
        <p:nvSpPr>
          <p:cNvPr id="8" name="Step text 1"/>
          <p:cNvSpPr txBox="1"/>
          <p:nvPr/>
        </p:nvSpPr>
        <p:spPr>
          <a:xfrm>
            <a:off x="731520" y="333756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Shape, schema, sample rows and missing-value counts.</a:t>
            </a:r>
            <a:endParaRPr lang="en-US" sz="1400" dirty="0"/>
          </a:p>
        </p:txBody>
      </p:sp>
      <p:sp>
        <p:nvSpPr>
          <p:cNvPr id="9" name="Flow arrow 1"/>
          <p:cNvSpPr/>
          <p:nvPr/>
        </p:nvSpPr>
        <p:spPr>
          <a:xfrm>
            <a:off x="2578608" y="3246120"/>
            <a:ext cx="210312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Step card 2"/>
          <p:cNvSpPr/>
          <p:nvPr/>
        </p:nvSpPr>
        <p:spPr>
          <a:xfrm>
            <a:off x="2807208" y="164592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Step number 2"/>
          <p:cNvSpPr txBox="1"/>
          <p:nvPr/>
        </p:nvSpPr>
        <p:spPr>
          <a:xfrm>
            <a:off x="2990088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2</a:t>
            </a:r>
            <a:endParaRPr lang="en-US" sz="3200" dirty="0"/>
          </a:p>
        </p:txBody>
      </p:sp>
      <p:sp>
        <p:nvSpPr>
          <p:cNvPr id="12" name="Step icon 2 circle"/>
          <p:cNvSpPr/>
          <p:nvPr/>
        </p:nvSpPr>
        <p:spPr>
          <a:xfrm>
            <a:off x="4041648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Step icon 2" descr="fo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238" y="1977390"/>
            <a:ext cx="297180" cy="297180"/>
          </a:xfrm>
          <a:prstGeom prst="rect">
            <a:avLst/>
          </a:prstGeom>
        </p:spPr>
      </p:pic>
      <p:sp>
        <p:nvSpPr>
          <p:cNvPr id="14" name="Step title 2"/>
          <p:cNvSpPr txBox="1"/>
          <p:nvPr/>
        </p:nvSpPr>
        <p:spPr>
          <a:xfrm>
            <a:off x="2990088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Standardize</a:t>
            </a:r>
            <a:endParaRPr lang="en-US" sz="1800" dirty="0"/>
          </a:p>
        </p:txBody>
      </p:sp>
      <p:sp>
        <p:nvSpPr>
          <p:cNvPr id="15" name="Step text 2"/>
          <p:cNvSpPr txBox="1"/>
          <p:nvPr/>
        </p:nvSpPr>
        <p:spPr>
          <a:xfrm>
            <a:off x="2990088" y="333756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Consistent column names; trimmed categorical text.</a:t>
            </a:r>
            <a:endParaRPr lang="en-US" sz="1400" dirty="0"/>
          </a:p>
        </p:txBody>
      </p:sp>
      <p:sp>
        <p:nvSpPr>
          <p:cNvPr id="16" name="Flow arrow 2"/>
          <p:cNvSpPr/>
          <p:nvPr/>
        </p:nvSpPr>
        <p:spPr>
          <a:xfrm>
            <a:off x="4837176" y="3246120"/>
            <a:ext cx="210312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7" name="Step card 3"/>
          <p:cNvSpPr/>
          <p:nvPr/>
        </p:nvSpPr>
        <p:spPr>
          <a:xfrm>
            <a:off x="5065776" y="164592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8" name="Step number 3"/>
          <p:cNvSpPr txBox="1"/>
          <p:nvPr/>
        </p:nvSpPr>
        <p:spPr>
          <a:xfrm>
            <a:off x="5248656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3</a:t>
            </a:r>
            <a:endParaRPr lang="en-US" sz="3200" dirty="0"/>
          </a:p>
        </p:txBody>
      </p:sp>
      <p:sp>
        <p:nvSpPr>
          <p:cNvPr id="19" name="Step icon 3 circle"/>
          <p:cNvSpPr/>
          <p:nvPr/>
        </p:nvSpPr>
        <p:spPr>
          <a:xfrm>
            <a:off x="6300216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tep icon 3" descr="c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806" y="1977390"/>
            <a:ext cx="297180" cy="297180"/>
          </a:xfrm>
          <a:prstGeom prst="rect">
            <a:avLst/>
          </a:prstGeom>
        </p:spPr>
      </p:pic>
      <p:sp>
        <p:nvSpPr>
          <p:cNvPr id="21" name="Step title 3"/>
          <p:cNvSpPr txBox="1"/>
          <p:nvPr/>
        </p:nvSpPr>
        <p:spPr>
          <a:xfrm>
            <a:off x="5248656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Parse &amp; convert</a:t>
            </a:r>
            <a:endParaRPr lang="en-US" sz="1800" dirty="0"/>
          </a:p>
        </p:txBody>
      </p:sp>
      <p:sp>
        <p:nvSpPr>
          <p:cNvPr id="22" name="Step text 3"/>
          <p:cNvSpPr txBox="1"/>
          <p:nvPr/>
        </p:nvSpPr>
        <p:spPr>
          <a:xfrm>
            <a:off x="5248656" y="333756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Parse dates and convert numeric fields.</a:t>
            </a:r>
            <a:endParaRPr lang="en-US" sz="1400" dirty="0"/>
          </a:p>
        </p:txBody>
      </p:sp>
      <p:sp>
        <p:nvSpPr>
          <p:cNvPr id="23" name="Flow arrow 3"/>
          <p:cNvSpPr/>
          <p:nvPr/>
        </p:nvSpPr>
        <p:spPr>
          <a:xfrm>
            <a:off x="7095744" y="3246120"/>
            <a:ext cx="210312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4" name="Step card 4"/>
          <p:cNvSpPr/>
          <p:nvPr/>
        </p:nvSpPr>
        <p:spPr>
          <a:xfrm>
            <a:off x="7324344" y="164592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5" name="Step number 4"/>
          <p:cNvSpPr txBox="1"/>
          <p:nvPr/>
        </p:nvSpPr>
        <p:spPr>
          <a:xfrm>
            <a:off x="7507224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4</a:t>
            </a:r>
            <a:endParaRPr lang="en-US" sz="3200" dirty="0"/>
          </a:p>
        </p:txBody>
      </p:sp>
      <p:sp>
        <p:nvSpPr>
          <p:cNvPr id="26" name="Step icon 4 circle"/>
          <p:cNvSpPr/>
          <p:nvPr/>
        </p:nvSpPr>
        <p:spPr>
          <a:xfrm>
            <a:off x="8558784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Step icon 4" descr="broo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7374" y="1977390"/>
            <a:ext cx="297180" cy="297180"/>
          </a:xfrm>
          <a:prstGeom prst="rect">
            <a:avLst/>
          </a:prstGeom>
        </p:spPr>
      </p:pic>
      <p:sp>
        <p:nvSpPr>
          <p:cNvPr id="28" name="Step title 4"/>
          <p:cNvSpPr txBox="1"/>
          <p:nvPr/>
        </p:nvSpPr>
        <p:spPr>
          <a:xfrm>
            <a:off x="7507224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 &amp; validate</a:t>
            </a:r>
            <a:endParaRPr lang="en-US" sz="1800" dirty="0"/>
          </a:p>
        </p:txBody>
      </p:sp>
      <p:sp>
        <p:nvSpPr>
          <p:cNvPr id="29" name="Step text 4"/>
          <p:cNvSpPr txBox="1"/>
          <p:nvPr/>
        </p:nvSpPr>
        <p:spPr>
          <a:xfrm>
            <a:off x="7507224" y="333756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Drop exact duplicates; check hour, coordinates and non-negative counts.</a:t>
            </a:r>
            <a:endParaRPr lang="en-US" sz="1400" dirty="0"/>
          </a:p>
        </p:txBody>
      </p:sp>
      <p:sp>
        <p:nvSpPr>
          <p:cNvPr id="30" name="Flow arrow 4"/>
          <p:cNvSpPr/>
          <p:nvPr/>
        </p:nvSpPr>
        <p:spPr>
          <a:xfrm>
            <a:off x="9354312" y="3246120"/>
            <a:ext cx="210312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1" name="Step card 5"/>
          <p:cNvSpPr/>
          <p:nvPr/>
        </p:nvSpPr>
        <p:spPr>
          <a:xfrm>
            <a:off x="9582912" y="164592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2" name="Step number 5"/>
          <p:cNvSpPr txBox="1"/>
          <p:nvPr/>
        </p:nvSpPr>
        <p:spPr>
          <a:xfrm>
            <a:off x="9765792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5</a:t>
            </a:r>
            <a:endParaRPr lang="en-US" sz="3200" dirty="0"/>
          </a:p>
        </p:txBody>
      </p:sp>
      <p:sp>
        <p:nvSpPr>
          <p:cNvPr id="33" name="Step icon 5 circle"/>
          <p:cNvSpPr/>
          <p:nvPr/>
        </p:nvSpPr>
        <p:spPr>
          <a:xfrm>
            <a:off x="10817352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Step icon 5" descr="tab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5942" y="1977390"/>
            <a:ext cx="297180" cy="297180"/>
          </a:xfrm>
          <a:prstGeom prst="rect">
            <a:avLst/>
          </a:prstGeom>
        </p:spPr>
      </p:pic>
      <p:sp>
        <p:nvSpPr>
          <p:cNvPr id="35" name="Step title 5"/>
          <p:cNvSpPr txBox="1"/>
          <p:nvPr/>
        </p:nvSpPr>
        <p:spPr>
          <a:xfrm>
            <a:off x="9765792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Derive</a:t>
            </a:r>
            <a:endParaRPr lang="en-US" sz="1800" dirty="0"/>
          </a:p>
        </p:txBody>
      </p:sp>
      <p:sp>
        <p:nvSpPr>
          <p:cNvPr id="36" name="Step text 5"/>
          <p:cNvSpPr txBox="1"/>
          <p:nvPr/>
        </p:nvSpPr>
        <p:spPr>
          <a:xfrm>
            <a:off x="9765792" y="333756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Create year and month; document every cleaning decision.</a:t>
            </a:r>
            <a:endParaRPr lang="en-US" sz="1400" dirty="0"/>
          </a:p>
        </p:txBody>
      </p:sp>
      <p:sp>
        <p:nvSpPr>
          <p:cNvPr id="37" name="Outcome bar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38" name="Outcome text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Outcome: a cleaned and validated dataset of 20,000 records, ready for aggregation and visualization.</a:t>
            </a:r>
            <a:endParaRPr lang="en-US" sz="16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Severity Distribution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56692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everity card 1"/>
          <p:cNvSpPr/>
          <p:nvPr/>
        </p:nvSpPr>
        <p:spPr>
          <a:xfrm>
            <a:off x="6583680" y="1600200"/>
            <a:ext cx="505663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Severity dot 1"/>
          <p:cNvSpPr/>
          <p:nvPr/>
        </p:nvSpPr>
        <p:spPr>
          <a:xfrm>
            <a:off x="6812280" y="2011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everity value 1"/>
          <p:cNvSpPr txBox="1"/>
          <p:nvPr/>
        </p:nvSpPr>
        <p:spPr>
          <a:xfrm>
            <a:off x="7589520" y="1709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2,987</a:t>
            </a:r>
            <a:endParaRPr lang="en-US" sz="3200" dirty="0"/>
          </a:p>
        </p:txBody>
      </p:sp>
      <p:sp>
        <p:nvSpPr>
          <p:cNvPr id="7" name="Severity text 1"/>
          <p:cNvSpPr txBox="1"/>
          <p:nvPr/>
        </p:nvSpPr>
        <p:spPr>
          <a:xfrm>
            <a:off x="7589520" y="23042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Fatal-labelled records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14.9% of all records (about 1 in 7)</a:t>
            </a:r>
            <a:endParaRPr lang="en-US" sz="1400" dirty="0"/>
          </a:p>
        </p:txBody>
      </p:sp>
      <p:sp>
        <p:nvSpPr>
          <p:cNvPr id="8" name="Severity card 2"/>
          <p:cNvSpPr/>
          <p:nvPr/>
        </p:nvSpPr>
        <p:spPr>
          <a:xfrm>
            <a:off x="6583680" y="3108960"/>
            <a:ext cx="505663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Severity dot 2"/>
          <p:cNvSpPr/>
          <p:nvPr/>
        </p:nvSpPr>
        <p:spPr>
          <a:xfrm>
            <a:off x="6812280" y="3520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everity value 2"/>
          <p:cNvSpPr txBox="1"/>
          <p:nvPr/>
        </p:nvSpPr>
        <p:spPr>
          <a:xfrm>
            <a:off x="7589520" y="32186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≈ 6,000</a:t>
            </a:r>
            <a:endParaRPr lang="en-US" sz="3200" dirty="0"/>
          </a:p>
        </p:txBody>
      </p:sp>
      <p:sp>
        <p:nvSpPr>
          <p:cNvPr id="11" name="Severity text 2"/>
          <p:cNvSpPr txBox="1"/>
          <p:nvPr/>
        </p:nvSpPr>
        <p:spPr>
          <a:xfrm>
            <a:off x="7589520" y="38130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Major records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about 30% of records</a:t>
            </a:r>
            <a:endParaRPr lang="en-US" sz="1400" dirty="0"/>
          </a:p>
        </p:txBody>
      </p:sp>
      <p:sp>
        <p:nvSpPr>
          <p:cNvPr id="12" name="Severity card 3"/>
          <p:cNvSpPr/>
          <p:nvPr/>
        </p:nvSpPr>
        <p:spPr>
          <a:xfrm>
            <a:off x="6583680" y="4617720"/>
            <a:ext cx="505663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Severity dot 3"/>
          <p:cNvSpPr/>
          <p:nvPr/>
        </p:nvSpPr>
        <p:spPr>
          <a:xfrm>
            <a:off x="6812280" y="5029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Severity value 3"/>
          <p:cNvSpPr txBox="1"/>
          <p:nvPr/>
        </p:nvSpPr>
        <p:spPr>
          <a:xfrm>
            <a:off x="7589520" y="47274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≈ 11,000</a:t>
            </a:r>
            <a:endParaRPr lang="en-US" sz="3200" dirty="0"/>
          </a:p>
        </p:txBody>
      </p:sp>
      <p:sp>
        <p:nvSpPr>
          <p:cNvPr id="15" name="Severity text 3"/>
          <p:cNvSpPr txBox="1"/>
          <p:nvPr/>
        </p:nvSpPr>
        <p:spPr>
          <a:xfrm>
            <a:off x="7589520" y="53218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Minor records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about 55% of records — the most common category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Accidents by Hour of Day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76809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Hour insight card 1"/>
          <p:cNvSpPr/>
          <p:nvPr/>
        </p:nvSpPr>
        <p:spPr>
          <a:xfrm>
            <a:off x="8503920" y="1600200"/>
            <a:ext cx="313639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Hour value 1"/>
          <p:cNvSpPr txBox="1"/>
          <p:nvPr/>
        </p:nvSpPr>
        <p:spPr>
          <a:xfrm>
            <a:off x="873252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02:00</a:t>
            </a:r>
            <a:endParaRPr lang="en-US" sz="2600" dirty="0"/>
          </a:p>
        </p:txBody>
      </p:sp>
      <p:sp>
        <p:nvSpPr>
          <p:cNvPr id="6" name="Hour label 1"/>
          <p:cNvSpPr txBox="1"/>
          <p:nvPr/>
        </p:nvSpPr>
        <p:spPr>
          <a:xfrm>
            <a:off x="8732520" y="23134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Peak hour — 888 records</a:t>
            </a:r>
            <a:endParaRPr lang="en-US" sz="1400" dirty="0"/>
          </a:p>
        </p:txBody>
      </p:sp>
      <p:sp>
        <p:nvSpPr>
          <p:cNvPr id="7" name="Hour insight card 2"/>
          <p:cNvSpPr/>
          <p:nvPr/>
        </p:nvSpPr>
        <p:spPr>
          <a:xfrm>
            <a:off x="8503920" y="3108960"/>
            <a:ext cx="313639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Hour value 2"/>
          <p:cNvSpPr txBox="1"/>
          <p:nvPr/>
        </p:nvSpPr>
        <p:spPr>
          <a:xfrm>
            <a:off x="873252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07:00 &amp; 09:00</a:t>
            </a:r>
            <a:endParaRPr lang="en-US" sz="2600" dirty="0"/>
          </a:p>
        </p:txBody>
      </p:sp>
      <p:sp>
        <p:nvSpPr>
          <p:cNvPr id="9" name="Hour label 2"/>
          <p:cNvSpPr txBox="1"/>
          <p:nvPr/>
        </p:nvSpPr>
        <p:spPr>
          <a:xfrm>
            <a:off x="8732520" y="38221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Lowest hours — 786 records each</a:t>
            </a:r>
            <a:endParaRPr lang="en-US" sz="1400" dirty="0"/>
          </a:p>
        </p:txBody>
      </p:sp>
      <p:sp>
        <p:nvSpPr>
          <p:cNvPr id="10" name="Hour insight card 3"/>
          <p:cNvSpPr/>
          <p:nvPr/>
        </p:nvSpPr>
        <p:spPr>
          <a:xfrm>
            <a:off x="8503920" y="4617720"/>
            <a:ext cx="313639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Hour value 3"/>
          <p:cNvSpPr txBox="1"/>
          <p:nvPr/>
        </p:nvSpPr>
        <p:spPr>
          <a:xfrm>
            <a:off x="8732520" y="4754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≈ 13%</a:t>
            </a:r>
            <a:endParaRPr lang="en-US" sz="2600" dirty="0"/>
          </a:p>
        </p:txBody>
      </p:sp>
      <p:sp>
        <p:nvSpPr>
          <p:cNvPr id="12" name="Hour label 3"/>
          <p:cNvSpPr txBox="1"/>
          <p:nvPr/>
        </p:nvSpPr>
        <p:spPr>
          <a:xfrm>
            <a:off x="8732520" y="53309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Gap between busiest and quietest hour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Reported Cause Categories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74980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use insight card 1"/>
          <p:cNvSpPr/>
          <p:nvPr/>
        </p:nvSpPr>
        <p:spPr>
          <a:xfrm>
            <a:off x="8321040" y="1600200"/>
            <a:ext cx="33192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Cause heading 1"/>
          <p:cNvSpPr txBox="1"/>
          <p:nvPr/>
        </p:nvSpPr>
        <p:spPr>
          <a:xfrm>
            <a:off x="8549640" y="1709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≈ 20% each</a:t>
            </a:r>
            <a:endParaRPr lang="en-US" sz="1800" dirty="0"/>
          </a:p>
        </p:txBody>
      </p:sp>
      <p:sp>
        <p:nvSpPr>
          <p:cNvPr id="6" name="Cause text 1"/>
          <p:cNvSpPr txBox="1"/>
          <p:nvPr/>
        </p:nvSpPr>
        <p:spPr>
          <a:xfrm>
            <a:off x="8549640" y="219456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Five causes sit within about 1.4% of each other (≈ 3,970–4,025 records).</a:t>
            </a:r>
            <a:endParaRPr lang="en-US" sz="1400" dirty="0"/>
          </a:p>
        </p:txBody>
      </p:sp>
      <p:sp>
        <p:nvSpPr>
          <p:cNvPr id="7" name="Cause insight card 2"/>
          <p:cNvSpPr/>
          <p:nvPr/>
        </p:nvSpPr>
        <p:spPr>
          <a:xfrm>
            <a:off x="8321040" y="3108960"/>
            <a:ext cx="33192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Cause heading 2"/>
          <p:cNvSpPr txBox="1"/>
          <p:nvPr/>
        </p:nvSpPr>
        <p:spPr>
          <a:xfrm>
            <a:off x="8549640" y="32186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Overspeeding &amp; distraction</a:t>
            </a:r>
            <a:endParaRPr lang="en-US" sz="1800" dirty="0"/>
          </a:p>
        </p:txBody>
      </p:sp>
      <p:sp>
        <p:nvSpPr>
          <p:cNvPr id="9" name="Cause text 2"/>
          <p:cNvSpPr txBox="1"/>
          <p:nvPr/>
        </p:nvSpPr>
        <p:spPr>
          <a:xfrm>
            <a:off x="8549640" y="370332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Highest labels, tied at ≈ 4,025 records.</a:t>
            </a:r>
            <a:endParaRPr lang="en-US" sz="1400" dirty="0"/>
          </a:p>
        </p:txBody>
      </p:sp>
      <p:sp>
        <p:nvSpPr>
          <p:cNvPr id="10" name="Cause insight card 3"/>
          <p:cNvSpPr/>
          <p:nvPr/>
        </p:nvSpPr>
        <p:spPr>
          <a:xfrm>
            <a:off x="8321040" y="4617720"/>
            <a:ext cx="33192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Cause heading 3"/>
          <p:cNvSpPr txBox="1"/>
          <p:nvPr/>
        </p:nvSpPr>
        <p:spPr>
          <a:xfrm>
            <a:off x="8549640" y="47274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Interpretation caution</a:t>
            </a:r>
            <a:endParaRPr lang="en-US" sz="1800" dirty="0"/>
          </a:p>
        </p:txBody>
      </p:sp>
      <p:sp>
        <p:nvSpPr>
          <p:cNvPr id="12" name="Cause text 3"/>
          <p:cNvSpPr txBox="1"/>
          <p:nvPr/>
        </p:nvSpPr>
        <p:spPr>
          <a:xfrm>
            <a:off x="8549640" y="521208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Near-equal splits indicate that cause labels should be treated as exploratory.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Severity by Weather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69494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Weather headline card"/>
          <p:cNvSpPr/>
          <p:nvPr/>
        </p:nvSpPr>
        <p:spPr>
          <a:xfrm>
            <a:off x="7772400" y="1600200"/>
            <a:ext cx="3867912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/>
        </p:spPr>
      </p:sp>
      <p:sp>
        <p:nvSpPr>
          <p:cNvPr id="5" name="Weather headline"/>
          <p:cNvSpPr txBox="1"/>
          <p:nvPr/>
        </p:nvSpPr>
        <p:spPr>
          <a:xfrm>
            <a:off x="8046720" y="1737360"/>
            <a:ext cx="3337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Severity distribution is consistent across weather conditions</a:t>
            </a:r>
            <a:endParaRPr lang="en-US" sz="2400" dirty="0"/>
          </a:p>
        </p:txBody>
      </p:sp>
      <p:sp>
        <p:nvSpPr>
          <p:cNvPr id="6" name="Weather detail card"/>
          <p:cNvSpPr/>
          <p:nvPr/>
        </p:nvSpPr>
        <p:spPr>
          <a:xfrm>
            <a:off x="7772400" y="3931920"/>
            <a:ext cx="386791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Weather detail"/>
          <p:cNvSpPr txBox="1"/>
          <p:nvPr/>
        </p:nvSpPr>
        <p:spPr>
          <a:xfrm>
            <a:off x="8046720" y="4023360"/>
            <a:ext cx="3337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Each condition holds ≈ 6,600 records, split ≈ 15% fatal, 30% major and 55% minor.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 this dataset, the weather label alone does not appear to influence severity.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State-wise Records and Fatal Share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5486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172200" y="1463040"/>
          <a:ext cx="5468112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tate takeaway bar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6" name="State takeaway"/>
          <p:cNvSpPr txBox="1"/>
          <p:nvPr/>
        </p:nvSpPr>
        <p:spPr>
          <a:xfrm>
            <a:off x="777240" y="5623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Maharashtra has 25% of all records (raw count, not risk-adjusted); fatal share is similar everywhere, 14.0%–15.8%.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Interactive Streamlit Dashboard</a:t>
            </a:r>
            <a:endParaRPr lang="en-US" sz="3600" dirty="0"/>
          </a:p>
        </p:txBody>
      </p:sp>
      <p:pic>
        <p:nvPicPr>
          <p:cNvPr id="3" name="Dashboard screenshot" descr="Dashboard KPI cards with severity and hourly char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7040880" cy="3718163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4" name="Screenshot caption"/>
          <p:cNvSpPr txBox="1"/>
          <p:nvPr/>
        </p:nvSpPr>
        <p:spPr>
          <a:xfrm>
            <a:off x="548640" y="5364083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KPI cards and Plotly charts update with the sidebar filters.</a:t>
            </a:r>
            <a:endParaRPr lang="en-US" sz="1200" dirty="0"/>
          </a:p>
        </p:txBody>
      </p:sp>
      <p:sp>
        <p:nvSpPr>
          <p:cNvPr id="5" name="Feature card 1"/>
          <p:cNvSpPr/>
          <p:nvPr/>
        </p:nvSpPr>
        <p:spPr>
          <a:xfrm>
            <a:off x="7863840" y="1508760"/>
            <a:ext cx="3776472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6" name="Feature icon 1 circle"/>
          <p:cNvSpPr/>
          <p:nvPr/>
        </p:nvSpPr>
        <p:spPr>
          <a:xfrm>
            <a:off x="804672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Feature icon 1" descr="fil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1908810"/>
            <a:ext cx="251460" cy="251460"/>
          </a:xfrm>
          <a:prstGeom prst="rect">
            <a:avLst/>
          </a:prstGeom>
        </p:spPr>
      </p:pic>
      <p:sp>
        <p:nvSpPr>
          <p:cNvPr id="8" name="Feature text 1"/>
          <p:cNvSpPr txBox="1"/>
          <p:nvPr/>
        </p:nvSpPr>
        <p:spPr>
          <a:xfrm>
            <a:off x="8686800" y="15087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Filters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State, severity and road type</a:t>
            </a:r>
            <a:endParaRPr lang="en-US" sz="1600" dirty="0"/>
          </a:p>
        </p:txBody>
      </p:sp>
      <p:sp>
        <p:nvSpPr>
          <p:cNvPr id="9" name="Feature card 2"/>
          <p:cNvSpPr/>
          <p:nvPr/>
        </p:nvSpPr>
        <p:spPr>
          <a:xfrm>
            <a:off x="7863840" y="2697480"/>
            <a:ext cx="3776472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10" name="Feature icon 2 circle"/>
          <p:cNvSpPr/>
          <p:nvPr/>
        </p:nvSpPr>
        <p:spPr>
          <a:xfrm>
            <a:off x="8046720" y="2971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eature icon 2" descr="gau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50" y="3097530"/>
            <a:ext cx="251460" cy="251460"/>
          </a:xfrm>
          <a:prstGeom prst="rect">
            <a:avLst/>
          </a:prstGeom>
        </p:spPr>
      </p:pic>
      <p:sp>
        <p:nvSpPr>
          <p:cNvPr id="12" name="Feature text 2"/>
          <p:cNvSpPr txBox="1"/>
          <p:nvPr/>
        </p:nvSpPr>
        <p:spPr>
          <a:xfrm>
            <a:off x="8686800" y="26974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KPI cards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Records, fatal-labelled, casualties, avg. risk score</a:t>
            </a:r>
            <a:endParaRPr lang="en-US" sz="1600" dirty="0"/>
          </a:p>
        </p:txBody>
      </p:sp>
      <p:sp>
        <p:nvSpPr>
          <p:cNvPr id="13" name="Feature card 3"/>
          <p:cNvSpPr/>
          <p:nvPr/>
        </p:nvSpPr>
        <p:spPr>
          <a:xfrm>
            <a:off x="7863840" y="3886200"/>
            <a:ext cx="3776472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14" name="Feature icon 3 circle"/>
          <p:cNvSpPr/>
          <p:nvPr/>
        </p:nvSpPr>
        <p:spPr>
          <a:xfrm>
            <a:off x="8046720" y="4160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icon 3" descr="ma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2450" y="4286250"/>
            <a:ext cx="251460" cy="251460"/>
          </a:xfrm>
          <a:prstGeom prst="rect">
            <a:avLst/>
          </a:prstGeom>
        </p:spPr>
      </p:pic>
      <p:sp>
        <p:nvSpPr>
          <p:cNvPr id="16" name="Feature text 3"/>
          <p:cNvSpPr txBox="1"/>
          <p:nvPr/>
        </p:nvSpPr>
        <p:spPr>
          <a:xfrm>
            <a:off x="8686800" y="388620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Charts &amp; map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Interactive Plotly charts and geographic map</a:t>
            </a:r>
            <a:endParaRPr lang="en-US" sz="1600" dirty="0"/>
          </a:p>
        </p:txBody>
      </p:sp>
      <p:sp>
        <p:nvSpPr>
          <p:cNvPr id="17" name="Feature card 4"/>
          <p:cNvSpPr/>
          <p:nvPr/>
        </p:nvSpPr>
        <p:spPr>
          <a:xfrm>
            <a:off x="7863840" y="5074920"/>
            <a:ext cx="3776472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18" name="Feature icon 4 circle"/>
          <p:cNvSpPr/>
          <p:nvPr/>
        </p:nvSpPr>
        <p:spPr>
          <a:xfrm>
            <a:off x="8046720" y="5349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Feature icon 4" descr="dow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2450" y="5474970"/>
            <a:ext cx="251460" cy="251460"/>
          </a:xfrm>
          <a:prstGeom prst="rect">
            <a:avLst/>
          </a:prstGeom>
        </p:spPr>
      </p:pic>
      <p:sp>
        <p:nvSpPr>
          <p:cNvPr id="20" name="Feature text 4"/>
          <p:cNvSpPr txBox="1"/>
          <p:nvPr/>
        </p:nvSpPr>
        <p:spPr>
          <a:xfrm>
            <a:off x="8686800" y="507492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 tools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Quality panel, record preview, filtered CSV download</a:t>
            </a:r>
            <a:endParaRPr lang="en-US" sz="1600" dirty="0"/>
          </a:p>
        </p:txBody>
      </p:sp>
      <p:sp>
        <p:nvSpPr>
          <p:cNvPr id="21" name="Run command"/>
          <p:cNvSpPr txBox="1"/>
          <p:nvPr/>
        </p:nvSpPr>
        <p:spPr>
          <a:xfrm>
            <a:off x="548640" y="58978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Execution: streamlit run app.py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Dashboard Views</a:t>
            </a:r>
            <a:endParaRPr lang="en-US" sz="3600" dirty="0"/>
          </a:p>
        </p:txBody>
      </p:sp>
      <p:pic>
        <p:nvPicPr>
          <p:cNvPr id="3" name="Cause and map screenshot" descr="Cause bar chart and accident location 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852160" cy="2522129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pic>
      <p:pic>
        <p:nvPicPr>
          <p:cNvPr id="4" name="State table screenshot" descr="State-wise summary 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68049"/>
            <a:ext cx="5852160" cy="1893592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pic>
      <p:pic>
        <p:nvPicPr>
          <p:cNvPr id="5" name="Weather screenshot" descr="Severity by weather stacked 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463040"/>
            <a:ext cx="5246493" cy="4206240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6" name="Map caption"/>
          <p:cNvSpPr txBox="1"/>
          <p:nvPr/>
        </p:nvSpPr>
        <p:spPr>
          <a:xfrm>
            <a:off x="6720840" y="5852160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Geographic clusters appear around Delhi, Mumbai–Pune, Hyderabad, Bengaluru, Chennai and Kolkata.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Interpretation &amp; Findings</a:t>
            </a:r>
            <a:endParaRPr lang="en-US" sz="3600" dirty="0"/>
          </a:p>
        </p:txBody>
      </p:sp>
      <p:sp>
        <p:nvSpPr>
          <p:cNvPr id="3" name="Finding card 1"/>
          <p:cNvSpPr/>
          <p:nvPr/>
        </p:nvSpPr>
        <p:spPr>
          <a:xfrm>
            <a:off x="548640" y="1554480"/>
            <a:ext cx="2651760" cy="32004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" name="Finding icon 1 circle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inding icon 1" descr="war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931670"/>
            <a:ext cx="297180" cy="297180"/>
          </a:xfrm>
          <a:prstGeom prst="rect">
            <a:avLst/>
          </a:prstGeom>
        </p:spPr>
      </p:pic>
      <p:sp>
        <p:nvSpPr>
          <p:cNvPr id="6" name="Finding value 1"/>
          <p:cNvSpPr txBox="1"/>
          <p:nvPr/>
        </p:nvSpPr>
        <p:spPr>
          <a:xfrm>
            <a:off x="777240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≈ 55%</a:t>
            </a:r>
            <a:endParaRPr lang="en-US" sz="3600" dirty="0"/>
          </a:p>
        </p:txBody>
      </p:sp>
      <p:sp>
        <p:nvSpPr>
          <p:cNvPr id="7" name="Finding title 1"/>
          <p:cNvSpPr txBox="1"/>
          <p:nvPr/>
        </p:nvSpPr>
        <p:spPr>
          <a:xfrm>
            <a:off x="77724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Minor is the most frequent severity</a:t>
            </a:r>
            <a:endParaRPr lang="en-US" sz="1600" dirty="0"/>
          </a:p>
        </p:txBody>
      </p:sp>
      <p:sp>
        <p:nvSpPr>
          <p:cNvPr id="8" name="Finding detail 1"/>
          <p:cNvSpPr txBox="1"/>
          <p:nvPr/>
        </p:nvSpPr>
        <p:spPr>
          <a:xfrm>
            <a:off x="777240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Fatal-labelled: 2,987 records (14.9%)</a:t>
            </a:r>
            <a:endParaRPr lang="en-US" sz="1300" dirty="0"/>
          </a:p>
        </p:txBody>
      </p:sp>
      <p:sp>
        <p:nvSpPr>
          <p:cNvPr id="9" name="Finding card 2"/>
          <p:cNvSpPr/>
          <p:nvPr/>
        </p:nvSpPr>
        <p:spPr>
          <a:xfrm>
            <a:off x="3364992" y="1554480"/>
            <a:ext cx="2651760" cy="32004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0" name="Finding icon 2 circle"/>
          <p:cNvSpPr/>
          <p:nvPr/>
        </p:nvSpPr>
        <p:spPr>
          <a:xfrm>
            <a:off x="3593592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inding icon 2" descr="c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182" y="1931670"/>
            <a:ext cx="297180" cy="297180"/>
          </a:xfrm>
          <a:prstGeom prst="rect">
            <a:avLst/>
          </a:prstGeom>
        </p:spPr>
      </p:pic>
      <p:sp>
        <p:nvSpPr>
          <p:cNvPr id="12" name="Finding value 2"/>
          <p:cNvSpPr txBox="1"/>
          <p:nvPr/>
        </p:nvSpPr>
        <p:spPr>
          <a:xfrm>
            <a:off x="3593592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02:00</a:t>
            </a:r>
            <a:endParaRPr lang="en-US" sz="3600" dirty="0"/>
          </a:p>
        </p:txBody>
      </p:sp>
      <p:sp>
        <p:nvSpPr>
          <p:cNvPr id="13" name="Finding title 2"/>
          <p:cNvSpPr txBox="1"/>
          <p:nvPr/>
        </p:nvSpPr>
        <p:spPr>
          <a:xfrm>
            <a:off x="3593592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Peak recorded hour</a:t>
            </a:r>
            <a:endParaRPr lang="en-US" sz="1600" dirty="0"/>
          </a:p>
        </p:txBody>
      </p:sp>
      <p:sp>
        <p:nvSpPr>
          <p:cNvPr id="14" name="Finding detail 2"/>
          <p:cNvSpPr txBox="1"/>
          <p:nvPr/>
        </p:nvSpPr>
        <p:spPr>
          <a:xfrm>
            <a:off x="3593592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888 records; lowest 786 at 07:00 and 09:00</a:t>
            </a:r>
            <a:endParaRPr lang="en-US" sz="1300" dirty="0"/>
          </a:p>
        </p:txBody>
      </p:sp>
      <p:sp>
        <p:nvSpPr>
          <p:cNvPr id="15" name="Finding card 3"/>
          <p:cNvSpPr/>
          <p:nvPr/>
        </p:nvSpPr>
        <p:spPr>
          <a:xfrm>
            <a:off x="6181344" y="1554480"/>
            <a:ext cx="2651760" cy="32004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6" name="Finding icon 3 circle"/>
          <p:cNvSpPr/>
          <p:nvPr/>
        </p:nvSpPr>
        <p:spPr>
          <a:xfrm>
            <a:off x="6409944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Finding icon 3" descr="c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534" y="1931670"/>
            <a:ext cx="297180" cy="297180"/>
          </a:xfrm>
          <a:prstGeom prst="rect">
            <a:avLst/>
          </a:prstGeom>
        </p:spPr>
      </p:pic>
      <p:sp>
        <p:nvSpPr>
          <p:cNvPr id="18" name="Finding value 3"/>
          <p:cNvSpPr txBox="1"/>
          <p:nvPr/>
        </p:nvSpPr>
        <p:spPr>
          <a:xfrm>
            <a:off x="6409944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≈ 4,025</a:t>
            </a:r>
            <a:endParaRPr lang="en-US" sz="3600" dirty="0"/>
          </a:p>
        </p:txBody>
      </p:sp>
      <p:sp>
        <p:nvSpPr>
          <p:cNvPr id="19" name="Finding title 3"/>
          <p:cNvSpPr txBox="1"/>
          <p:nvPr/>
        </p:nvSpPr>
        <p:spPr>
          <a:xfrm>
            <a:off x="6409944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Overspeeding &amp; distraction lead</a:t>
            </a:r>
            <a:endParaRPr lang="en-US" sz="1600" dirty="0"/>
          </a:p>
        </p:txBody>
      </p:sp>
      <p:sp>
        <p:nvSpPr>
          <p:cNvPr id="20" name="Finding detail 3"/>
          <p:cNvSpPr txBox="1"/>
          <p:nvPr/>
        </p:nvSpPr>
        <p:spPr>
          <a:xfrm>
            <a:off x="6409944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Top reported causes, narrowly ahead of the rest</a:t>
            </a:r>
            <a:endParaRPr lang="en-US" sz="1300" dirty="0"/>
          </a:p>
        </p:txBody>
      </p:sp>
      <p:sp>
        <p:nvSpPr>
          <p:cNvPr id="21" name="Finding card 4"/>
          <p:cNvSpPr/>
          <p:nvPr/>
        </p:nvSpPr>
        <p:spPr>
          <a:xfrm>
            <a:off x="8997696" y="1554480"/>
            <a:ext cx="2651760" cy="32004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22" name="Finding icon 4 circle"/>
          <p:cNvSpPr/>
          <p:nvPr/>
        </p:nvSpPr>
        <p:spPr>
          <a:xfrm>
            <a:off x="9226296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Finding icon 4" descr="pi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4886" y="1931670"/>
            <a:ext cx="297180" cy="297180"/>
          </a:xfrm>
          <a:prstGeom prst="rect">
            <a:avLst/>
          </a:prstGeom>
        </p:spPr>
      </p:pic>
      <p:sp>
        <p:nvSpPr>
          <p:cNvPr id="24" name="Finding value 4"/>
          <p:cNvSpPr txBox="1"/>
          <p:nvPr/>
        </p:nvSpPr>
        <p:spPr>
          <a:xfrm>
            <a:off x="9226296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5,009</a:t>
            </a:r>
            <a:endParaRPr lang="en-US" sz="3600" dirty="0"/>
          </a:p>
        </p:txBody>
      </p:sp>
      <p:sp>
        <p:nvSpPr>
          <p:cNvPr id="25" name="Finding title 4"/>
          <p:cNvSpPr txBox="1"/>
          <p:nvPr/>
        </p:nvSpPr>
        <p:spPr>
          <a:xfrm>
            <a:off x="9226296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Maharashtra has the most records</a:t>
            </a:r>
            <a:endParaRPr lang="en-US" sz="1600" dirty="0"/>
          </a:p>
        </p:txBody>
      </p:sp>
      <p:sp>
        <p:nvSpPr>
          <p:cNvPr id="26" name="Finding detail 4"/>
          <p:cNvSpPr txBox="1"/>
          <p:nvPr/>
        </p:nvSpPr>
        <p:spPr>
          <a:xfrm>
            <a:off x="9226296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Raw count — 25% of all records</a:t>
            </a:r>
            <a:endParaRPr lang="en-US" sz="1300" dirty="0"/>
          </a:p>
        </p:txBody>
      </p:sp>
      <p:sp>
        <p:nvSpPr>
          <p:cNvPr id="27" name="Recommendation card"/>
          <p:cNvSpPr/>
          <p:nvPr/>
        </p:nvSpPr>
        <p:spPr>
          <a:xfrm>
            <a:off x="548640" y="498348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28" name="Recommendation icon circle"/>
          <p:cNvSpPr/>
          <p:nvPr/>
        </p:nvSpPr>
        <p:spPr>
          <a:xfrm>
            <a:off x="822960" y="5303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Recommendation icon" descr="bul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440680"/>
            <a:ext cx="274320" cy="274320"/>
          </a:xfrm>
          <a:prstGeom prst="rect">
            <a:avLst/>
          </a:prstGeom>
        </p:spPr>
      </p:pic>
      <p:sp>
        <p:nvSpPr>
          <p:cNvPr id="30" name="Recommendation text"/>
          <p:cNvSpPr txBox="1"/>
          <p:nvPr/>
        </p:nvSpPr>
        <p:spPr>
          <a:xfrm>
            <a:off x="1600200" y="502920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RECOMMENDATION</a:t>
            </a:r>
            <a:endParaRPr lang="en-US" sz="12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It is recommended to prioritise awareness and enforcement on overspeeding and distraction, monitor the late-night window, and normalise by traffic volume before ranking states.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Limitations &amp; Ethics</a:t>
            </a:r>
            <a:endParaRPr lang="en-US" sz="3600" dirty="0"/>
          </a:p>
        </p:txBody>
      </p:sp>
      <p:sp>
        <p:nvSpPr>
          <p:cNvPr id="3" name="Limitation card 1"/>
          <p:cNvSpPr/>
          <p:nvPr/>
        </p:nvSpPr>
        <p:spPr>
          <a:xfrm>
            <a:off x="548640" y="155448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Limitation icon 1 circle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imitation icon 1" descr="d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977390"/>
            <a:ext cx="297180" cy="297180"/>
          </a:xfrm>
          <a:prstGeom prst="rect">
            <a:avLst/>
          </a:prstGeom>
        </p:spPr>
      </p:pic>
      <p:sp>
        <p:nvSpPr>
          <p:cNvPr id="6" name="Limitation title 1"/>
          <p:cNvSpPr txBox="1"/>
          <p:nvPr/>
        </p:nvSpPr>
        <p:spPr>
          <a:xfrm>
            <a:off x="82296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Provenance</a:t>
            </a:r>
            <a:endParaRPr lang="en-US" sz="1800" dirty="0"/>
          </a:p>
        </p:txBody>
      </p:sp>
      <p:sp>
        <p:nvSpPr>
          <p:cNvPr id="7" name="Limitation text 1"/>
          <p:cNvSpPr txBox="1"/>
          <p:nvPr/>
        </p:nvSpPr>
        <p:spPr>
          <a:xfrm>
            <a:off x="822960" y="2880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Dataset provenance and collection methodology require verification.</a:t>
            </a:r>
            <a:endParaRPr lang="en-US" sz="1400" dirty="0"/>
          </a:p>
        </p:txBody>
      </p:sp>
      <p:sp>
        <p:nvSpPr>
          <p:cNvPr id="8" name="Limitation card 2"/>
          <p:cNvSpPr/>
          <p:nvPr/>
        </p:nvSpPr>
        <p:spPr>
          <a:xfrm>
            <a:off x="4297680" y="155448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Limitation icon 2 circle"/>
          <p:cNvSpPr/>
          <p:nvPr/>
        </p:nvSpPr>
        <p:spPr>
          <a:xfrm>
            <a:off x="457200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Limitation icon 2" descr="sca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590" y="1977390"/>
            <a:ext cx="297180" cy="297180"/>
          </a:xfrm>
          <a:prstGeom prst="rect">
            <a:avLst/>
          </a:prstGeom>
        </p:spPr>
      </p:pic>
      <p:sp>
        <p:nvSpPr>
          <p:cNvPr id="11" name="Limitation title 2"/>
          <p:cNvSpPr txBox="1"/>
          <p:nvPr/>
        </p:nvSpPr>
        <p:spPr>
          <a:xfrm>
            <a:off x="457200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Raw counts</a:t>
            </a:r>
            <a:endParaRPr lang="en-US" sz="1800" dirty="0"/>
          </a:p>
        </p:txBody>
      </p:sp>
      <p:sp>
        <p:nvSpPr>
          <p:cNvPr id="12" name="Limitation text 2"/>
          <p:cNvSpPr txBox="1"/>
          <p:nvPr/>
        </p:nvSpPr>
        <p:spPr>
          <a:xfrm>
            <a:off x="4572000" y="2880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Counts are not population- or traffic-volume-adjusted risk rates.</a:t>
            </a:r>
            <a:endParaRPr lang="en-US" sz="1400" dirty="0"/>
          </a:p>
        </p:txBody>
      </p:sp>
      <p:sp>
        <p:nvSpPr>
          <p:cNvPr id="13" name="Limitation card 3"/>
          <p:cNvSpPr/>
          <p:nvPr/>
        </p:nvSpPr>
        <p:spPr>
          <a:xfrm>
            <a:off x="8046720" y="155448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Limitation icon 3 circle"/>
          <p:cNvSpPr/>
          <p:nvPr/>
        </p:nvSpPr>
        <p:spPr>
          <a:xfrm>
            <a:off x="832104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Limitation icon 3" descr="rou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630" y="1977390"/>
            <a:ext cx="297180" cy="297180"/>
          </a:xfrm>
          <a:prstGeom prst="rect">
            <a:avLst/>
          </a:prstGeom>
        </p:spPr>
      </p:pic>
      <p:sp>
        <p:nvSpPr>
          <p:cNvPr id="16" name="Limitation title 3"/>
          <p:cNvSpPr txBox="1"/>
          <p:nvPr/>
        </p:nvSpPr>
        <p:spPr>
          <a:xfrm>
            <a:off x="832104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 causal</a:t>
            </a:r>
            <a:endParaRPr lang="en-US" sz="1800" dirty="0"/>
          </a:p>
        </p:txBody>
      </p:sp>
      <p:sp>
        <p:nvSpPr>
          <p:cNvPr id="17" name="Limitation text 3"/>
          <p:cNvSpPr txBox="1"/>
          <p:nvPr/>
        </p:nvSpPr>
        <p:spPr>
          <a:xfrm>
            <a:off x="8321040" y="2880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Observed associations do not establish causation.</a:t>
            </a:r>
            <a:endParaRPr lang="en-US" sz="1400" dirty="0"/>
          </a:p>
        </p:txBody>
      </p:sp>
      <p:sp>
        <p:nvSpPr>
          <p:cNvPr id="18" name="Limitation card 4"/>
          <p:cNvSpPr/>
          <p:nvPr/>
        </p:nvSpPr>
        <p:spPr>
          <a:xfrm>
            <a:off x="548640" y="393192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Limitation icon 4 circle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Limitation icon 4" descr="tab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4354830"/>
            <a:ext cx="297180" cy="297180"/>
          </a:xfrm>
          <a:prstGeom prst="rect">
            <a:avLst/>
          </a:prstGeom>
        </p:spPr>
      </p:pic>
      <p:sp>
        <p:nvSpPr>
          <p:cNvPr id="21" name="Limitation title 4"/>
          <p:cNvSpPr txBox="1"/>
          <p:nvPr/>
        </p:nvSpPr>
        <p:spPr>
          <a:xfrm>
            <a:off x="82296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Field quality</a:t>
            </a:r>
            <a:endParaRPr lang="en-US" sz="1800" dirty="0"/>
          </a:p>
        </p:txBody>
      </p:sp>
      <p:sp>
        <p:nvSpPr>
          <p:cNvPr id="22" name="Limitation text 4"/>
          <p:cNvSpPr txBox="1"/>
          <p:nvPr/>
        </p:nvSpPr>
        <p:spPr>
          <a:xfrm>
            <a:off x="82296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Reported cause and risk-score fields may have limitations.</a:t>
            </a:r>
            <a:endParaRPr lang="en-US" sz="1400" dirty="0"/>
          </a:p>
        </p:txBody>
      </p:sp>
      <p:sp>
        <p:nvSpPr>
          <p:cNvPr id="23" name="Limitation card 5"/>
          <p:cNvSpPr/>
          <p:nvPr/>
        </p:nvSpPr>
        <p:spPr>
          <a:xfrm>
            <a:off x="4297680" y="393192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Limitation icon 5 circle"/>
          <p:cNvSpPr/>
          <p:nvPr/>
        </p:nvSpPr>
        <p:spPr>
          <a:xfrm>
            <a:off x="4572000" y="4206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Limitation icon 5" descr="ca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0590" y="4354830"/>
            <a:ext cx="297180" cy="297180"/>
          </a:xfrm>
          <a:prstGeom prst="rect">
            <a:avLst/>
          </a:prstGeom>
        </p:spPr>
      </p:pic>
      <p:sp>
        <p:nvSpPr>
          <p:cNvPr id="26" name="Limitation title 5"/>
          <p:cNvSpPr txBox="1"/>
          <p:nvPr/>
        </p:nvSpPr>
        <p:spPr>
          <a:xfrm>
            <a:off x="457200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congestion claims</a:t>
            </a:r>
            <a:endParaRPr lang="en-US" sz="1800" dirty="0"/>
          </a:p>
        </p:txBody>
      </p:sp>
      <p:sp>
        <p:nvSpPr>
          <p:cNvPr id="27" name="Limitation text 5"/>
          <p:cNvSpPr txBox="1"/>
          <p:nvPr/>
        </p:nvSpPr>
        <p:spPr>
          <a:xfrm>
            <a:off x="457200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Congestion analysis needs independent traffic speed and volume data.</a:t>
            </a:r>
            <a:endParaRPr lang="en-US" sz="1400" dirty="0"/>
          </a:p>
        </p:txBody>
      </p:sp>
      <p:sp>
        <p:nvSpPr>
          <p:cNvPr id="28" name="Data note card"/>
          <p:cNvSpPr/>
          <p:nvPr/>
        </p:nvSpPr>
        <p:spPr>
          <a:xfrm>
            <a:off x="8046720" y="393192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29" name="Data note text"/>
          <p:cNvSpPr txBox="1"/>
          <p:nvPr/>
        </p:nvSpPr>
        <p:spPr>
          <a:xfrm>
            <a:off x="8321040" y="402336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DATA NOTE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The cause and weather distributions are unusually uniform; the data source should be verified before conclusions are drawn.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 &amp; Future Scope</a:t>
            </a:r>
            <a:endParaRPr lang="en-US" sz="3600" dirty="0"/>
          </a:p>
        </p:txBody>
      </p:sp>
      <p:sp>
        <p:nvSpPr>
          <p:cNvPr id="3" name="Demonstrated heading"/>
          <p:cNvSpPr txBox="1"/>
          <p:nvPr/>
        </p:nvSpPr>
        <p:spPr>
          <a:xfrm>
            <a:off x="548640" y="1508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we demonstrated</a:t>
            </a:r>
            <a:endParaRPr lang="en-US" sz="2000" dirty="0"/>
          </a:p>
        </p:txBody>
      </p:sp>
      <p:sp>
        <p:nvSpPr>
          <p:cNvPr id="4" name="Demonstrated card 1"/>
          <p:cNvSpPr/>
          <p:nvPr/>
        </p:nvSpPr>
        <p:spPr>
          <a:xfrm>
            <a:off x="548640" y="2103120"/>
            <a:ext cx="530352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5" name="Demonstrated icon 1 circle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Demonstrated icon 1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2411730"/>
            <a:ext cx="251460" cy="251460"/>
          </a:xfrm>
          <a:prstGeom prst="rect">
            <a:avLst/>
          </a:prstGeom>
        </p:spPr>
      </p:pic>
      <p:sp>
        <p:nvSpPr>
          <p:cNvPr id="7" name="Demonstrated text 1"/>
          <p:cNvSpPr txBox="1"/>
          <p:nvPr/>
        </p:nvSpPr>
        <p:spPr>
          <a:xfrm>
            <a:off x="1554480" y="2103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Data preprocessing</a:t>
            </a:r>
            <a:endParaRPr lang="en-US" sz="1800" dirty="0"/>
          </a:p>
        </p:txBody>
      </p:sp>
      <p:sp>
        <p:nvSpPr>
          <p:cNvPr id="8" name="Demonstrated card 2"/>
          <p:cNvSpPr/>
          <p:nvPr/>
        </p:nvSpPr>
        <p:spPr>
          <a:xfrm>
            <a:off x="548640" y="3108960"/>
            <a:ext cx="530352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9" name="Demonstrated icon 2 circle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Demonstrated icon 2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3417570"/>
            <a:ext cx="251460" cy="251460"/>
          </a:xfrm>
          <a:prstGeom prst="rect">
            <a:avLst/>
          </a:prstGeom>
        </p:spPr>
      </p:pic>
      <p:sp>
        <p:nvSpPr>
          <p:cNvPr id="11" name="Demonstrated text 2"/>
          <p:cNvSpPr txBox="1"/>
          <p:nvPr/>
        </p:nvSpPr>
        <p:spPr>
          <a:xfrm>
            <a:off x="1554480" y="31089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Exploratory analysis</a:t>
            </a:r>
            <a:endParaRPr lang="en-US" sz="1800" dirty="0"/>
          </a:p>
        </p:txBody>
      </p:sp>
      <p:sp>
        <p:nvSpPr>
          <p:cNvPr id="12" name="Demonstrated card 3"/>
          <p:cNvSpPr/>
          <p:nvPr/>
        </p:nvSpPr>
        <p:spPr>
          <a:xfrm>
            <a:off x="548640" y="4114800"/>
            <a:ext cx="530352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13" name="Demonstrated icon 3 circle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Demonstrated icon 3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4423410"/>
            <a:ext cx="251460" cy="251460"/>
          </a:xfrm>
          <a:prstGeom prst="rect">
            <a:avLst/>
          </a:prstGeom>
        </p:spPr>
      </p:pic>
      <p:sp>
        <p:nvSpPr>
          <p:cNvPr id="15" name="Demonstrated text 3"/>
          <p:cNvSpPr txBox="1"/>
          <p:nvPr/>
        </p:nvSpPr>
        <p:spPr>
          <a:xfrm>
            <a:off x="1554480" y="4114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Visualization</a:t>
            </a:r>
            <a:endParaRPr lang="en-US" sz="1800" dirty="0"/>
          </a:p>
        </p:txBody>
      </p:sp>
      <p:sp>
        <p:nvSpPr>
          <p:cNvPr id="16" name="Demonstrated card 4"/>
          <p:cNvSpPr/>
          <p:nvPr/>
        </p:nvSpPr>
        <p:spPr>
          <a:xfrm>
            <a:off x="548640" y="5120640"/>
            <a:ext cx="530352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17" name="Demonstrated icon 4 circle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Demonstrated icon 4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5429250"/>
            <a:ext cx="251460" cy="251460"/>
          </a:xfrm>
          <a:prstGeom prst="rect">
            <a:avLst/>
          </a:prstGeom>
        </p:spPr>
      </p:pic>
      <p:sp>
        <p:nvSpPr>
          <p:cNvPr id="19" name="Demonstrated text 4"/>
          <p:cNvSpPr txBox="1"/>
          <p:nvPr/>
        </p:nvSpPr>
        <p:spPr>
          <a:xfrm>
            <a:off x="1554480" y="51206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Interactive dashboarding</a:t>
            </a:r>
            <a:endParaRPr lang="en-US" sz="1800" dirty="0"/>
          </a:p>
        </p:txBody>
      </p:sp>
      <p:sp>
        <p:nvSpPr>
          <p:cNvPr id="20" name="Future heading"/>
          <p:cNvSpPr txBox="1"/>
          <p:nvPr/>
        </p:nvSpPr>
        <p:spPr>
          <a:xfrm>
            <a:off x="6355080" y="1508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21" name="Future card 1"/>
          <p:cNvSpPr/>
          <p:nvPr/>
        </p:nvSpPr>
        <p:spPr>
          <a:xfrm>
            <a:off x="6355080" y="2103120"/>
            <a:ext cx="528523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22" name="Future icon 1 circle"/>
          <p:cNvSpPr/>
          <p:nvPr/>
        </p:nvSpPr>
        <p:spPr>
          <a:xfrm>
            <a:off x="6583680" y="24414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Future icon 1" descr="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10" y="2567178"/>
            <a:ext cx="251460" cy="251460"/>
          </a:xfrm>
          <a:prstGeom prst="rect">
            <a:avLst/>
          </a:prstGeom>
        </p:spPr>
      </p:pic>
      <p:sp>
        <p:nvSpPr>
          <p:cNvPr id="24" name="Future text 1"/>
          <p:cNvSpPr txBox="1"/>
          <p:nvPr/>
        </p:nvSpPr>
        <p:spPr>
          <a:xfrm>
            <a:off x="7360920" y="21031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Traffic volume &amp; speed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Add verified traffic-volume and speed data.</a:t>
            </a:r>
            <a:endParaRPr lang="en-US" sz="1700" dirty="0"/>
          </a:p>
        </p:txBody>
      </p:sp>
      <p:sp>
        <p:nvSpPr>
          <p:cNvPr id="25" name="Future card 2"/>
          <p:cNvSpPr/>
          <p:nvPr/>
        </p:nvSpPr>
        <p:spPr>
          <a:xfrm>
            <a:off x="6355080" y="3447288"/>
            <a:ext cx="528523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26" name="Future icon 2 circle"/>
          <p:cNvSpPr/>
          <p:nvPr/>
        </p:nvSpPr>
        <p:spPr>
          <a:xfrm>
            <a:off x="6583680" y="378561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Future icon 2" descr="d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410" y="3911346"/>
            <a:ext cx="251460" cy="251460"/>
          </a:xfrm>
          <a:prstGeom prst="rect">
            <a:avLst/>
          </a:prstGeom>
        </p:spPr>
      </p:pic>
      <p:sp>
        <p:nvSpPr>
          <p:cNvPr id="28" name="Future text 2"/>
          <p:cNvSpPr txBox="1"/>
          <p:nvPr/>
        </p:nvSpPr>
        <p:spPr>
          <a:xfrm>
            <a:off x="7360920" y="3447288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Official records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Cross-check against official accident records.</a:t>
            </a:r>
            <a:endParaRPr lang="en-US" sz="1700" dirty="0"/>
          </a:p>
        </p:txBody>
      </p:sp>
      <p:sp>
        <p:nvSpPr>
          <p:cNvPr id="29" name="Future card 3"/>
          <p:cNvSpPr/>
          <p:nvPr/>
        </p:nvSpPr>
        <p:spPr>
          <a:xfrm>
            <a:off x="6355080" y="4791456"/>
            <a:ext cx="528523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30" name="Future icon 3 circle"/>
          <p:cNvSpPr/>
          <p:nvPr/>
        </p:nvSpPr>
        <p:spPr>
          <a:xfrm>
            <a:off x="6583680" y="512978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Future icon 3" descr="ch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9410" y="5255514"/>
            <a:ext cx="251460" cy="251460"/>
          </a:xfrm>
          <a:prstGeom prst="rect">
            <a:avLst/>
          </a:prstGeom>
        </p:spPr>
      </p:pic>
      <p:sp>
        <p:nvSpPr>
          <p:cNvPr id="32" name="Future text 3"/>
          <p:cNvSpPr txBox="1"/>
          <p:nvPr/>
        </p:nvSpPr>
        <p:spPr>
          <a:xfrm>
            <a:off x="7360920" y="4791456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Time series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Add year-over-year and seasonal comparisons.</a:t>
            </a:r>
            <a:endParaRPr lang="en-US" sz="1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3" name="Reference card 1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4" name="Reference icon 1 circle"/>
          <p:cNvSpPr/>
          <p:nvPr/>
        </p:nvSpPr>
        <p:spPr>
          <a:xfrm>
            <a:off x="777240" y="17099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eference icon 1" descr="li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24228"/>
            <a:ext cx="228600" cy="228600"/>
          </a:xfrm>
          <a:prstGeom prst="rect">
            <a:avLst/>
          </a:prstGeom>
        </p:spPr>
      </p:pic>
      <p:sp>
        <p:nvSpPr>
          <p:cNvPr id="6" name="Reference name 1"/>
          <p:cNvSpPr txBox="1"/>
          <p:nvPr/>
        </p:nvSpPr>
        <p:spPr>
          <a:xfrm>
            <a:off x="1463040" y="1554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Dataset repository</a:t>
            </a:r>
            <a:endParaRPr lang="en-US" sz="1600" dirty="0"/>
          </a:p>
        </p:txBody>
      </p:sp>
      <p:sp>
        <p:nvSpPr>
          <p:cNvPr id="7" name="Reference link 1">
            <a:hlinkClick r:id="rId4"/>
          </p:cNvPr>
          <p:cNvSpPr txBox="1"/>
          <p:nvPr/>
        </p:nvSpPr>
        <p:spPr>
          <a:xfrm>
            <a:off x="3474720" y="1554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chemeClr val="accent4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https://github.com/Aditya2213/INDIAN_ROAD_ACCIDENT_DATASET_DASHBOARD</a:t>
            </a:r>
            <a:endParaRPr lang="en-US" sz="1100" dirty="0"/>
          </a:p>
        </p:txBody>
      </p:sp>
      <p:sp>
        <p:nvSpPr>
          <p:cNvPr id="8" name="Reference card 2"/>
          <p:cNvSpPr/>
          <p:nvPr/>
        </p:nvSpPr>
        <p:spPr>
          <a:xfrm>
            <a:off x="548640" y="246888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9" name="Reference icon 2 circle"/>
          <p:cNvSpPr/>
          <p:nvPr/>
        </p:nvSpPr>
        <p:spPr>
          <a:xfrm>
            <a:off x="777240" y="2624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Reference icon 2" descr="li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738628"/>
            <a:ext cx="228600" cy="228600"/>
          </a:xfrm>
          <a:prstGeom prst="rect">
            <a:avLst/>
          </a:prstGeom>
        </p:spPr>
      </p:pic>
      <p:sp>
        <p:nvSpPr>
          <p:cNvPr id="11" name="Reference name 2"/>
          <p:cNvSpPr txBox="1"/>
          <p:nvPr/>
        </p:nvSpPr>
        <p:spPr>
          <a:xfrm>
            <a:off x="1463040" y="2468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Raw CSV</a:t>
            </a:r>
            <a:endParaRPr lang="en-US" sz="1600" dirty="0"/>
          </a:p>
        </p:txBody>
      </p:sp>
      <p:sp>
        <p:nvSpPr>
          <p:cNvPr id="12" name="Reference link 2">
            <a:hlinkClick r:id="rId5"/>
          </p:cNvPr>
          <p:cNvSpPr txBox="1"/>
          <p:nvPr/>
        </p:nvSpPr>
        <p:spPr>
          <a:xfrm>
            <a:off x="3474720" y="24688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chemeClr val="accent4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https://raw.githubusercontent.com/Aditya2213/INDIAN_ROAD_ACCIDENT_DATASET_DASHBOARD/main/indian_roads_dataset.csv</a:t>
            </a:r>
            <a:endParaRPr lang="en-US" sz="1100" dirty="0"/>
          </a:p>
        </p:txBody>
      </p:sp>
      <p:sp>
        <p:nvSpPr>
          <p:cNvPr id="13" name="Reference card 3"/>
          <p:cNvSpPr/>
          <p:nvPr/>
        </p:nvSpPr>
        <p:spPr>
          <a:xfrm>
            <a:off x="548640" y="338328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4" name="Reference icon 3 circle"/>
          <p:cNvSpPr/>
          <p:nvPr/>
        </p:nvSpPr>
        <p:spPr>
          <a:xfrm>
            <a:off x="777240" y="3538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Reference icon 3" descr="li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653028"/>
            <a:ext cx="228600" cy="228600"/>
          </a:xfrm>
          <a:prstGeom prst="rect">
            <a:avLst/>
          </a:prstGeom>
        </p:spPr>
      </p:pic>
      <p:sp>
        <p:nvSpPr>
          <p:cNvPr id="16" name="Reference name 3"/>
          <p:cNvSpPr txBox="1"/>
          <p:nvPr/>
        </p:nvSpPr>
        <p:spPr>
          <a:xfrm>
            <a:off x="1463040" y="3383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Streamlit</a:t>
            </a:r>
            <a:endParaRPr lang="en-US" sz="1600" dirty="0"/>
          </a:p>
        </p:txBody>
      </p:sp>
      <p:sp>
        <p:nvSpPr>
          <p:cNvPr id="17" name="Reference link 3">
            <a:hlinkClick r:id="rId6"/>
          </p:cNvPr>
          <p:cNvSpPr txBox="1"/>
          <p:nvPr/>
        </p:nvSpPr>
        <p:spPr>
          <a:xfrm>
            <a:off x="3474720" y="33832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chemeClr val="accent4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https://docs.streamlit.io/</a:t>
            </a:r>
            <a:endParaRPr lang="en-US" sz="1100" dirty="0"/>
          </a:p>
        </p:txBody>
      </p:sp>
      <p:sp>
        <p:nvSpPr>
          <p:cNvPr id="18" name="Reference card 4"/>
          <p:cNvSpPr/>
          <p:nvPr/>
        </p:nvSpPr>
        <p:spPr>
          <a:xfrm>
            <a:off x="548640" y="429768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9" name="Reference icon 4 circle"/>
          <p:cNvSpPr/>
          <p:nvPr/>
        </p:nvSpPr>
        <p:spPr>
          <a:xfrm>
            <a:off x="777240" y="44531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Reference icon 4" descr="li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567428"/>
            <a:ext cx="228600" cy="228600"/>
          </a:xfrm>
          <a:prstGeom prst="rect">
            <a:avLst/>
          </a:prstGeom>
        </p:spPr>
      </p:pic>
      <p:sp>
        <p:nvSpPr>
          <p:cNvPr id="21" name="Reference name 4"/>
          <p:cNvSpPr txBox="1"/>
          <p:nvPr/>
        </p:nvSpPr>
        <p:spPr>
          <a:xfrm>
            <a:off x="1463040" y="42976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Plotly</a:t>
            </a:r>
            <a:endParaRPr lang="en-US" sz="1600" dirty="0"/>
          </a:p>
        </p:txBody>
      </p:sp>
      <p:sp>
        <p:nvSpPr>
          <p:cNvPr id="22" name="Reference link 4">
            <a:hlinkClick r:id="rId7"/>
          </p:cNvPr>
          <p:cNvSpPr txBox="1"/>
          <p:nvPr/>
        </p:nvSpPr>
        <p:spPr>
          <a:xfrm>
            <a:off x="3474720" y="42976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chemeClr val="accent4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https://plotly.com/python/</a:t>
            </a:r>
            <a:endParaRPr lang="en-US" sz="1100" dirty="0"/>
          </a:p>
        </p:txBody>
      </p:sp>
      <p:sp>
        <p:nvSpPr>
          <p:cNvPr id="23" name="Reference card 5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4" name="Reference icon 5 circle"/>
          <p:cNvSpPr/>
          <p:nvPr/>
        </p:nvSpPr>
        <p:spPr>
          <a:xfrm>
            <a:off x="777240" y="53675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Reference icon 5" descr="li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5481828"/>
            <a:ext cx="228600" cy="228600"/>
          </a:xfrm>
          <a:prstGeom prst="rect">
            <a:avLst/>
          </a:prstGeom>
        </p:spPr>
      </p:pic>
      <p:sp>
        <p:nvSpPr>
          <p:cNvPr id="26" name="Reference name 5"/>
          <p:cNvSpPr txBox="1"/>
          <p:nvPr/>
        </p:nvSpPr>
        <p:spPr>
          <a:xfrm>
            <a:off x="1463040" y="5212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pandas</a:t>
            </a:r>
            <a:endParaRPr lang="en-US" sz="1600" dirty="0"/>
          </a:p>
        </p:txBody>
      </p:sp>
      <p:sp>
        <p:nvSpPr>
          <p:cNvPr id="27" name="Reference link 5">
            <a:hlinkClick r:id="rId8"/>
          </p:cNvPr>
          <p:cNvSpPr txBox="1"/>
          <p:nvPr/>
        </p:nvSpPr>
        <p:spPr>
          <a:xfrm>
            <a:off x="3474720" y="5212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chemeClr val="accent4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https://pandas.pydata.org/docs/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rban Traffic Intelligence">
  <a:themeElements>
    <a:clrScheme name="Urban Traffic Intelligence">
      <a:dk1>
        <a:srgbClr val="0B1F3A"/>
      </a:dk1>
      <a:lt1>
        <a:srgbClr val="FFFFFF"/>
      </a:lt1>
      <a:dk2>
        <a:srgbClr val="1B365D"/>
      </a:dk2>
      <a:lt2>
        <a:srgbClr val="EEF1F5"/>
      </a:lt2>
      <a:accent1>
        <a:srgbClr val="B08D3C"/>
      </a:accent1>
      <a:accent2>
        <a:srgbClr val="A33B3B"/>
      </a:accent2>
      <a:accent3>
        <a:srgbClr val="3F7A63"/>
      </a:accent3>
      <a:accent4>
        <a:srgbClr val="2C5282"/>
      </a:accent4>
      <a:accent5>
        <a:srgbClr val="6B7A90"/>
      </a:accent5>
      <a:accent6>
        <a:srgbClr val="5B6B8C"/>
      </a:accent6>
      <a:hlink>
        <a:srgbClr val="2C5282"/>
      </a:hlink>
      <a:folHlink>
        <a:srgbClr val="5B6B8C"/>
      </a:folHlink>
    </a:clrScheme>
    <a:fontScheme name="Urban Traffic Intellig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978</Words>
  <Application>Microsoft Office PowerPoint</Application>
  <PresentationFormat>Widescreen</PresentationFormat>
  <Paragraphs>208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Urban Traffic Intelligence</vt:lpstr>
      <vt:lpstr>URBAN TRAFFIC INTELLIGENCE</vt:lpstr>
      <vt:lpstr>Project Overview</vt:lpstr>
      <vt:lpstr>Problem Statement &amp; Objectives</vt:lpstr>
      <vt:lpstr>Dataset Description</vt:lpstr>
      <vt:lpstr>Data Preprocessing</vt:lpstr>
      <vt:lpstr>Severity Distribution</vt:lpstr>
      <vt:lpstr>Accidents by Hour of Day</vt:lpstr>
      <vt:lpstr>Reported Cause Categories</vt:lpstr>
      <vt:lpstr>Severity by Weather</vt:lpstr>
      <vt:lpstr>State-wise Records and Fatal Share</vt:lpstr>
      <vt:lpstr>Interactive Streamlit Dashboard</vt:lpstr>
      <vt:lpstr>Dashboard Views</vt:lpstr>
      <vt:lpstr>Interpretation &amp; Findings</vt:lpstr>
      <vt:lpstr>Limitations &amp; Ethics</vt:lpstr>
      <vt:lpstr>Conclusion &amp; Future Scope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Traffic Intelligence</dc:title>
  <dc:subject>PptxGenJS Presentation</dc:subject>
  <dc:creator>DVP Mini Project</dc:creator>
  <cp:lastModifiedBy>Admin</cp:lastModifiedBy>
  <cp:revision>2</cp:revision>
  <dcterms:created xsi:type="dcterms:W3CDTF">2026-10-19T05:50:22Z</dcterms:created>
  <dcterms:modified xsi:type="dcterms:W3CDTF">2026-10-19T06:54:57Z</dcterms:modified>
</cp:coreProperties>
</file>